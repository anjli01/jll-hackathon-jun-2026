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Open Sans SemiBold"/>
      <p:regular r:id="rId15"/>
      <p:bold r:id="rId16"/>
      <p:italic r:id="rId17"/>
      <p:boldItalic r:id="rId18"/>
    </p:embeddedFont>
    <p:embeddedFont>
      <p:font typeface="Open Sans ExtraBold"/>
      <p:bold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ExtraBold-boldItalic.fntdata"/><Relationship Id="rId11" Type="http://schemas.openxmlformats.org/officeDocument/2006/relationships/slide" Target="slides/slide6.xml"/><Relationship Id="rId22" Type="http://schemas.openxmlformats.org/officeDocument/2006/relationships/font" Target="fonts/OpenSans-bold.fntdata"/><Relationship Id="rId10" Type="http://schemas.openxmlformats.org/officeDocument/2006/relationships/slide" Target="slides/slide5.xml"/><Relationship Id="rId21" Type="http://schemas.openxmlformats.org/officeDocument/2006/relationships/font" Target="fonts/OpenSans-regular.fntdata"/><Relationship Id="rId13" Type="http://schemas.openxmlformats.org/officeDocument/2006/relationships/slide" Target="slides/slide8.xml"/><Relationship Id="rId24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OpenSansSemiBold-italic.fntdata"/><Relationship Id="rId16" Type="http://schemas.openxmlformats.org/officeDocument/2006/relationships/font" Target="fonts/OpenSansSemi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ExtraBold-bold.fntdata"/><Relationship Id="rId6" Type="http://schemas.openxmlformats.org/officeDocument/2006/relationships/slide" Target="slides/slide1.xml"/><Relationship Id="rId18" Type="http://schemas.openxmlformats.org/officeDocument/2006/relationships/font" Target="fonts/OpenSans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2bff695ad_0_30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2bff695ad_0_3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2bff695ad_0_26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2bff695ad_0_2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2bff695ad_0_22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2bff695ad_0_2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2bff695ad_0_24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f2bff695ad_0_2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2bff695ad_0_14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f2bff695ad_0_1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2bff695ad_58_0)">
  <p:cSld name="Generated (g3f2bff695ad_58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762000" y="571500"/>
            <a:ext cx="4800600" cy="1445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Business Requirements Tracker &amp; Workflow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762000" y="2160091"/>
            <a:ext cx="48006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DIGITALIZATION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762000" y="2950666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POC Proposal - Use Case #1</a:t>
            </a:r>
            <a:endParaRPr/>
          </a:p>
        </p:txBody>
      </p:sp>
      <p:pic>
        <p:nvPicPr>
          <p:cNvPr descr="image.png" id="89" name="Google Shape;8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762000" y="4533900"/>
            <a:ext cx="4572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Presented By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762000" y="4781550"/>
            <a:ext cx="4572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Project Management Team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762000" y="5743575"/>
            <a:ext cx="13239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3000F"/>
                </a:solidFill>
                <a:latin typeface="Open Sans"/>
                <a:ea typeface="Open Sans"/>
                <a:cs typeface="Open Sans"/>
                <a:sym typeface="Open Sans"/>
              </a:rPr>
              <a:t>((O))</a:t>
            </a:r>
            <a:r>
              <a:rPr b="1" i="0" lang="en-US" sz="2700" u="none" cap="none" strike="noStrike">
                <a:solidFill>
                  <a:srgbClr val="E3000F"/>
                </a:solidFill>
                <a:latin typeface="Open Sans"/>
                <a:ea typeface="Open Sans"/>
                <a:cs typeface="Open Sans"/>
                <a:sym typeface="Open Sans"/>
              </a:rPr>
              <a:t> JLL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28850" y="5934075"/>
            <a:ext cx="18954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SEE A BRIGHTER WAY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2672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11064"/>
            <a:ext cx="7924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428625" y="571500"/>
            <a:ext cx="3580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Overview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428625" y="1428750"/>
            <a:ext cx="358044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Business Problem: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428625" y="1752600"/>
            <a:ext cx="340995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Manual tracking of business requirements leads to severe delays, cross-departmental miscommunication, and a complete lack of real-time visibility into project statuses, resulting in scattered data and operational inefficiency.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428625" y="2943225"/>
            <a:ext cx="358044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Project Objective: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428625" y="5486400"/>
            <a:ext cx="358044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Target Users: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52450" y="3267075"/>
            <a:ext cx="47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00075" y="3267075"/>
            <a:ext cx="3238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Digitize and automate the requirement tracking workflow to establish a single source of truth.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52450" y="3762375"/>
            <a:ext cx="47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00075" y="3762375"/>
            <a:ext cx="3238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Enhance cross-functional collaboration and real-time reporting.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52450" y="4257675"/>
            <a:ext cx="47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00075" y="4257675"/>
            <a:ext cx="3238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Automate workflows based on business operations with systematic tracking.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52450" y="4752975"/>
            <a:ext cx="47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00075" y="4752975"/>
            <a:ext cx="3238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Significantly reduce overall cycle times across departments.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52450" y="5810250"/>
            <a:ext cx="47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00075" y="5810250"/>
            <a:ext cx="3238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Sales SPOCs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52450" y="6105525"/>
            <a:ext cx="47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00075" y="6105525"/>
            <a:ext cx="3238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Procurement SPOCs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52450" y="6400800"/>
            <a:ext cx="47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00075" y="6400800"/>
            <a:ext cx="3238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Finance SPOCs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52450" y="6696075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00075" y="6696075"/>
            <a:ext cx="3238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Executive Sponsors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743450" y="571500"/>
            <a:ext cx="476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3000F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743450" y="2193875"/>
            <a:ext cx="476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3000F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743450" y="3816250"/>
            <a:ext cx="476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3000F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743450" y="5167163"/>
            <a:ext cx="476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3000F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457825" y="571500"/>
            <a:ext cx="39404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In Scope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457825" y="2193875"/>
            <a:ext cx="3520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Out of Scope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457825" y="3816250"/>
            <a:ext cx="403050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Assumptions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457825" y="5167163"/>
            <a:ext cx="4600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Risks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591175" y="873918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648325" y="876300"/>
            <a:ext cx="35623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Automated routing of requirement documents.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591175" y="114538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648325" y="1147762"/>
            <a:ext cx="35623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Real-time status tracking dashboards for stakeholders.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591175" y="1416843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5648325" y="1419225"/>
            <a:ext cx="35623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Standardized digital intake forms.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591175" y="1688306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5648325" y="1690687"/>
            <a:ext cx="35623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Basic email notifications and alerts based on phases.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5591175" y="249629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5648325" y="2498675"/>
            <a:ext cx="3162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Legacy system historical data migration.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5591175" y="2767756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5648325" y="2770137"/>
            <a:ext cx="3162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Complex integrations with existing ERP systems.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5591175" y="3039219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5648325" y="3041600"/>
            <a:ext cx="3162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Custom mobile application development.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5591175" y="331068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5648325" y="3313062"/>
            <a:ext cx="3162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Vendor external portal access.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5591175" y="4118669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5648325" y="4121050"/>
            <a:ext cx="364807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All required stakeholders will provide timely approvals.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5591175" y="4390132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5648325" y="4392513"/>
            <a:ext cx="364807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Existing IT infrastructure can support the new SaaS tool.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5591175" y="466159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5648325" y="4663975"/>
            <a:ext cx="364807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Subject Matter Experts (SMEs) will be available for UAT.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5591175" y="5469582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5648325" y="5471963"/>
            <a:ext cx="41910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Resistance from teams accustomed to legacy manual processes.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5591175" y="574104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5648325" y="5743426"/>
            <a:ext cx="41910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Potential scope creep during the feedback phase.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5591175" y="6012507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5648325" y="6014888"/>
            <a:ext cx="41910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Unforeseen delays in securing necessary IT security sign-offs.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571500" y="28575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High Level Process Map</a:t>
            </a:r>
            <a:endParaRPr sz="2400">
              <a:solidFill>
                <a:srgbClr val="0F172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571500" y="762000"/>
            <a:ext cx="11049000" cy="34290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762000" y="7620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rPr>
              <a:t>⚡ TRIGGER EVENT: </a:t>
            </a:r>
            <a:r>
              <a:rPr b="0" lang="en-US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[Client Email/RFP Received] OR [Lease Expiry Alert]</a:t>
            </a:r>
            <a:endParaRPr b="1" sz="1000">
              <a:solidFill>
                <a:srgbClr val="004B5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65" name="Google Shape;165;p16"/>
          <p:cNvGrpSpPr/>
          <p:nvPr/>
        </p:nvGrpSpPr>
        <p:grpSpPr>
          <a:xfrm>
            <a:off x="571500" y="1257300"/>
            <a:ext cx="3429000" cy="3409950"/>
            <a:chOff x="571500" y="1257300"/>
            <a:chExt cx="3429000" cy="3409950"/>
          </a:xfrm>
        </p:grpSpPr>
        <p:sp>
          <p:nvSpPr>
            <p:cNvPr id="166" name="Google Shape;166;p16"/>
            <p:cNvSpPr/>
            <p:nvPr/>
          </p:nvSpPr>
          <p:spPr>
            <a:xfrm>
              <a:off x="571500" y="1257300"/>
              <a:ext cx="3429000" cy="333300"/>
            </a:xfrm>
            <a:prstGeom prst="roundRect">
              <a:avLst>
                <a:gd fmla="val 14285" name="adj"/>
              </a:avLst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6"/>
            <p:cNvSpPr txBox="1"/>
            <p:nvPr/>
          </p:nvSpPr>
          <p:spPr>
            <a:xfrm>
              <a:off x="571500" y="1257300"/>
              <a:ext cx="3429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1. SALES STAGE</a:t>
              </a:r>
              <a:endParaRPr b="1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571500" y="1685925"/>
              <a:ext cx="3429000" cy="1476300"/>
            </a:xfrm>
            <a:prstGeom prst="roundRect">
              <a:avLst>
                <a:gd fmla="val 32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6"/>
            <p:cNvSpPr txBox="1"/>
            <p:nvPr/>
          </p:nvSpPr>
          <p:spPr>
            <a:xfrm>
              <a:off x="714375" y="1781175"/>
              <a:ext cx="31434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SALES SPOC</a:t>
              </a:r>
              <a:endParaRPr b="0" sz="95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Upload Email / Document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AI Extraction &amp; Auto-Populate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Review &amp; Complete Requirements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Submit for Approval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571500" y="3257550"/>
              <a:ext cx="3429000" cy="1409700"/>
            </a:xfrm>
            <a:prstGeom prst="roundRect">
              <a:avLst>
                <a:gd fmla="val 337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6"/>
            <p:cNvSpPr txBox="1"/>
            <p:nvPr/>
          </p:nvSpPr>
          <p:spPr>
            <a:xfrm>
              <a:off x="714375" y="3352800"/>
              <a:ext cx="31434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SALES HEAD (APPROVER)</a:t>
              </a:r>
              <a:endParaRPr b="0" sz="95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Review Requirements &amp; Decision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6A34A"/>
                  </a:solidFill>
                  <a:latin typeface="Open Sans"/>
                  <a:ea typeface="Open Sans"/>
                  <a:cs typeface="Open Sans"/>
                  <a:sym typeface="Open Sans"/>
                </a:rPr>
                <a:t>✔ Approve ➔ Lock Requirements</a:t>
              </a:r>
              <a:endParaRPr b="1" sz="900">
                <a:solidFill>
                  <a:srgbClr val="16A34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1" lang="en-US" sz="900">
                  <a:solidFill>
                    <a:srgbClr val="DC2626"/>
                  </a:solidFill>
                  <a:latin typeface="Open Sans"/>
                  <a:ea typeface="Open Sans"/>
                  <a:cs typeface="Open Sans"/>
                  <a:sym typeface="Open Sans"/>
                </a:rPr>
                <a:t>✘ Reject ➔ Return to Sales SPOC</a:t>
              </a:r>
              <a:endParaRPr b="1" sz="900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72" name="Google Shape;172;p16"/>
          <p:cNvSpPr txBox="1"/>
          <p:nvPr/>
        </p:nvSpPr>
        <p:spPr>
          <a:xfrm>
            <a:off x="4114800" y="2902839"/>
            <a:ext cx="247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b="0" sz="18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173" name="Google Shape;173;p16"/>
          <p:cNvGrpSpPr/>
          <p:nvPr/>
        </p:nvGrpSpPr>
        <p:grpSpPr>
          <a:xfrm>
            <a:off x="4476750" y="1257300"/>
            <a:ext cx="3429000" cy="3409950"/>
            <a:chOff x="4476750" y="1257300"/>
            <a:chExt cx="3429000" cy="3409950"/>
          </a:xfrm>
        </p:grpSpPr>
        <p:sp>
          <p:nvSpPr>
            <p:cNvPr id="174" name="Google Shape;174;p16"/>
            <p:cNvSpPr/>
            <p:nvPr/>
          </p:nvSpPr>
          <p:spPr>
            <a:xfrm>
              <a:off x="4476750" y="1257300"/>
              <a:ext cx="3429000" cy="333300"/>
            </a:xfrm>
            <a:prstGeom prst="roundRect">
              <a:avLst>
                <a:gd fmla="val 14285" name="adj"/>
              </a:avLst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6"/>
            <p:cNvSpPr txBox="1"/>
            <p:nvPr/>
          </p:nvSpPr>
          <p:spPr>
            <a:xfrm>
              <a:off x="4476750" y="1257300"/>
              <a:ext cx="3429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2. PROCUREMENT STAGE</a:t>
              </a:r>
              <a:endParaRPr b="1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4476750" y="1685925"/>
              <a:ext cx="3429000" cy="1476300"/>
            </a:xfrm>
            <a:prstGeom prst="roundRect">
              <a:avLst>
                <a:gd fmla="val 32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6"/>
            <p:cNvSpPr txBox="1"/>
            <p:nvPr/>
          </p:nvSpPr>
          <p:spPr>
            <a:xfrm>
              <a:off x="4619625" y="1781175"/>
              <a:ext cx="31434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PROCUREMENT SPOC</a:t>
              </a:r>
              <a:endParaRPr b="0" sz="95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Add Vendor Details &amp; Verification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Associate Client &amp; BU Details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Input &amp; Validate Contract Value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Submit for Compliance Check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4476750" y="3257550"/>
              <a:ext cx="3429000" cy="1409700"/>
            </a:xfrm>
            <a:prstGeom prst="roundRect">
              <a:avLst>
                <a:gd fmla="val 337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6"/>
            <p:cNvSpPr txBox="1"/>
            <p:nvPr/>
          </p:nvSpPr>
          <p:spPr>
            <a:xfrm>
              <a:off x="4619625" y="3352800"/>
              <a:ext cx="31434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PROCUREMENT HEAD (APPROVER)</a:t>
              </a:r>
              <a:endParaRPr b="0" sz="95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Review Details &amp; Compliance Sign-off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6A34A"/>
                  </a:solidFill>
                  <a:latin typeface="Open Sans"/>
                  <a:ea typeface="Open Sans"/>
                  <a:cs typeface="Open Sans"/>
                  <a:sym typeface="Open Sans"/>
                </a:rPr>
                <a:t>✔ Approve ➔ Lock System</a:t>
              </a:r>
              <a:endParaRPr b="1" sz="900">
                <a:solidFill>
                  <a:srgbClr val="16A34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1" lang="en-US" sz="900">
                  <a:solidFill>
                    <a:srgbClr val="DC2626"/>
                  </a:solidFill>
                  <a:latin typeface="Open Sans"/>
                  <a:ea typeface="Open Sans"/>
                  <a:cs typeface="Open Sans"/>
                  <a:sym typeface="Open Sans"/>
                </a:rPr>
                <a:t>✘ Reject ➔ Return to Proc.</a:t>
              </a:r>
              <a:endParaRPr b="1" sz="900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80" name="Google Shape;180;p16"/>
          <p:cNvSpPr txBox="1"/>
          <p:nvPr/>
        </p:nvSpPr>
        <p:spPr>
          <a:xfrm>
            <a:off x="8020050" y="2902839"/>
            <a:ext cx="247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b="0" sz="18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181" name="Google Shape;181;p16"/>
          <p:cNvGrpSpPr/>
          <p:nvPr/>
        </p:nvGrpSpPr>
        <p:grpSpPr>
          <a:xfrm>
            <a:off x="8382000" y="1257300"/>
            <a:ext cx="3238500" cy="3409950"/>
            <a:chOff x="8382000" y="1257300"/>
            <a:chExt cx="3238500" cy="3409950"/>
          </a:xfrm>
        </p:grpSpPr>
        <p:sp>
          <p:nvSpPr>
            <p:cNvPr id="182" name="Google Shape;182;p16"/>
            <p:cNvSpPr/>
            <p:nvPr/>
          </p:nvSpPr>
          <p:spPr>
            <a:xfrm>
              <a:off x="8382000" y="1257300"/>
              <a:ext cx="3238500" cy="333300"/>
            </a:xfrm>
            <a:prstGeom prst="roundRect">
              <a:avLst>
                <a:gd fmla="val 14285" name="adj"/>
              </a:avLst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6"/>
            <p:cNvSpPr txBox="1"/>
            <p:nvPr/>
          </p:nvSpPr>
          <p:spPr>
            <a:xfrm>
              <a:off x="8382000" y="1257300"/>
              <a:ext cx="3238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3. FINANCE STAGE</a:t>
              </a:r>
              <a:endParaRPr b="1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8382000" y="1685925"/>
              <a:ext cx="3238500" cy="1476300"/>
            </a:xfrm>
            <a:prstGeom prst="roundRect">
              <a:avLst>
                <a:gd fmla="val 32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8524875" y="1781175"/>
              <a:ext cx="2952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FINANCE SPOC</a:t>
              </a:r>
              <a:endParaRPr b="0" sz="95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Add Invoice Details &amp; Validation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Input PO Details &amp; Payment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Verify Budget &amp; Terms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Submit for Final Sign-off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8382000" y="3257550"/>
              <a:ext cx="2000100" cy="1409700"/>
            </a:xfrm>
            <a:prstGeom prst="roundRect">
              <a:avLst>
                <a:gd fmla="val 337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6"/>
            <p:cNvSpPr txBox="1"/>
            <p:nvPr/>
          </p:nvSpPr>
          <p:spPr>
            <a:xfrm>
              <a:off x="8524875" y="3352800"/>
              <a:ext cx="17145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FINANCE HEAD</a:t>
              </a:r>
              <a:endParaRPr b="0" sz="95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6A34A"/>
                  </a:solidFill>
                  <a:latin typeface="Open Sans"/>
                  <a:ea typeface="Open Sans"/>
                  <a:cs typeface="Open Sans"/>
                  <a:sym typeface="Open Sans"/>
                </a:rPr>
                <a:t>✔ Approve ➔ Lock &amp; Version</a:t>
              </a:r>
              <a:endParaRPr b="1" sz="900">
                <a:solidFill>
                  <a:srgbClr val="16A34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1" lang="en-US" sz="900">
                  <a:solidFill>
                    <a:srgbClr val="DC2626"/>
                  </a:solidFill>
                  <a:latin typeface="Open Sans"/>
                  <a:ea typeface="Open Sans"/>
                  <a:cs typeface="Open Sans"/>
                  <a:sym typeface="Open Sans"/>
                </a:rPr>
                <a:t>✘ Reject ➔ Return</a:t>
              </a:r>
              <a:endParaRPr b="1" sz="900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10477500" y="3257550"/>
              <a:ext cx="1143000" cy="1409700"/>
            </a:xfrm>
            <a:prstGeom prst="roundRect">
              <a:avLst>
                <a:gd fmla="val 4166" name="adj"/>
              </a:avLst>
            </a:prstGeom>
            <a:solidFill>
              <a:srgbClr val="E8F1F2"/>
            </a:solidFill>
            <a:ln cap="flat" cmpd="sng" w="14300">
              <a:solidFill>
                <a:srgbClr val="004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6"/>
            <p:cNvSpPr txBox="1"/>
            <p:nvPr/>
          </p:nvSpPr>
          <p:spPr>
            <a:xfrm>
              <a:off x="10572750" y="3352800"/>
              <a:ext cx="9525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END STATE</a:t>
              </a:r>
              <a:endParaRPr b="0" sz="95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en-US" sz="90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Requirements Fully Approved &amp; Locked</a:t>
              </a:r>
              <a:endParaRPr b="1" sz="90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90" name="Google Shape;190;p16"/>
          <p:cNvSpPr/>
          <p:nvPr/>
        </p:nvSpPr>
        <p:spPr>
          <a:xfrm>
            <a:off x="571500" y="4810125"/>
            <a:ext cx="11049000" cy="609600"/>
          </a:xfrm>
          <a:prstGeom prst="roundRect">
            <a:avLst>
              <a:gd fmla="val 125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762000" y="4810125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rPr>
              <a:t>🔄 ONGOING MONITORING &amp; VARIATIONS (WES Operations &amp; All SPOCs)</a:t>
            </a:r>
            <a:endParaRPr b="1" sz="1000">
              <a:solidFill>
                <a:srgbClr val="38BDF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Real-Time Dashboard &amp; Status Tracking via Power BI ➔ Change Detection ➔ Trigger Variation Workflow ➔ Automated Re-Approval Routing &amp; Audit Trail Maintenance</a:t>
            </a:r>
            <a:endParaRPr b="0" sz="85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571500" y="5543550"/>
            <a:ext cx="11049000" cy="362100"/>
          </a:xfrm>
          <a:prstGeom prst="roundRect">
            <a:avLst>
              <a:gd fmla="val 21052" name="adj"/>
            </a:avLst>
          </a:prstGeom>
          <a:solidFill>
            <a:srgbClr val="004B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762000" y="5543550"/>
            <a:ext cx="10668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End State: Requirements Fully Approved, Locked, &amp; Ready for Execution</a:t>
            </a:r>
            <a:endParaRPr b="1" sz="1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17"/>
          <p:cNvGrpSpPr/>
          <p:nvPr/>
        </p:nvGrpSpPr>
        <p:grpSpPr>
          <a:xfrm>
            <a:off x="571500" y="1143000"/>
            <a:ext cx="3429000" cy="4190925"/>
            <a:chOff x="571500" y="1143000"/>
            <a:chExt cx="3429000" cy="4190925"/>
          </a:xfrm>
        </p:grpSpPr>
        <p:sp>
          <p:nvSpPr>
            <p:cNvPr id="199" name="Google Shape;199;p17"/>
            <p:cNvSpPr/>
            <p:nvPr/>
          </p:nvSpPr>
          <p:spPr>
            <a:xfrm>
              <a:off x="571500" y="1143000"/>
              <a:ext cx="3429000" cy="381000"/>
            </a:xfrm>
            <a:prstGeom prst="roundRect">
              <a:avLst>
                <a:gd fmla="val 12500" name="adj"/>
              </a:avLst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 txBox="1"/>
            <p:nvPr/>
          </p:nvSpPr>
          <p:spPr>
            <a:xfrm>
              <a:off x="571500" y="1143000"/>
              <a:ext cx="342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SALES SPOC</a:t>
              </a:r>
              <a:endParaRPr b="1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571500" y="1619250"/>
              <a:ext cx="3429000" cy="9525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7"/>
            <p:cNvSpPr txBox="1"/>
            <p:nvPr/>
          </p:nvSpPr>
          <p:spPr>
            <a:xfrm>
              <a:off x="666750" y="1666875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TRIGGER: Business Request</a:t>
              </a:r>
              <a:endParaRPr b="1" sz="95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Expiring Lease</a:t>
              </a:r>
              <a:br>
                <a:rPr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Client Details</a:t>
              </a:r>
              <a:br>
                <a:rPr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Email / RFP Upload</a:t>
              </a:r>
              <a:endParaRPr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571500" y="2667000"/>
              <a:ext cx="3429000" cy="7143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 txBox="1"/>
            <p:nvPr/>
          </p:nvSpPr>
          <p:spPr>
            <a:xfrm>
              <a:off x="666750" y="2714625"/>
              <a:ext cx="323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CAPTURE (AI)</a:t>
              </a:r>
              <a:endParaRPr b="1" sz="95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AI Extraction &amp; Processing</a:t>
              </a:r>
              <a:br>
                <a:rPr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Auto-Populate Requirement Form</a:t>
              </a:r>
              <a:endParaRPr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571500" y="3476625"/>
              <a:ext cx="3429000" cy="10479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7"/>
            <p:cNvSpPr txBox="1"/>
            <p:nvPr/>
          </p:nvSpPr>
          <p:spPr>
            <a:xfrm>
              <a:off x="666750" y="352425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GATHER &amp; APPROVAL</a:t>
              </a:r>
              <a:endParaRPr b="1" sz="95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CRM Collects Data &amp; Standard Templates</a:t>
              </a:r>
              <a:br>
                <a:rPr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Sales SPOC Review &amp; Updates</a:t>
              </a:r>
              <a:br>
                <a:rPr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Sales Head Review &amp; Approval</a:t>
              </a:r>
              <a:endParaRPr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571500" y="4619625"/>
              <a:ext cx="3429000" cy="714300"/>
            </a:xfrm>
            <a:prstGeom prst="roundRect">
              <a:avLst>
                <a:gd fmla="val 6666" name="adj"/>
              </a:avLst>
            </a:prstGeom>
            <a:solidFill>
              <a:srgbClr val="E8F1F2"/>
            </a:solidFill>
            <a:ln cap="flat" cmpd="sng" w="14300">
              <a:solidFill>
                <a:srgbClr val="004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 txBox="1"/>
            <p:nvPr/>
          </p:nvSpPr>
          <p:spPr>
            <a:xfrm>
              <a:off x="666750" y="4667250"/>
              <a:ext cx="323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LOCK &amp; TRACK</a:t>
              </a:r>
              <a:endParaRPr b="1" sz="95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Status: Approved</a:t>
              </a:r>
              <a:endParaRPr b="1" sz="90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Requirements Locked &amp; Secured</a:t>
              </a:r>
              <a:endParaRPr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09" name="Google Shape;209;p17"/>
          <p:cNvGrpSpPr/>
          <p:nvPr/>
        </p:nvGrpSpPr>
        <p:grpSpPr>
          <a:xfrm>
            <a:off x="4381500" y="1143000"/>
            <a:ext cx="3429000" cy="4190925"/>
            <a:chOff x="4381500" y="1143000"/>
            <a:chExt cx="3429000" cy="4190925"/>
          </a:xfrm>
        </p:grpSpPr>
        <p:sp>
          <p:nvSpPr>
            <p:cNvPr id="210" name="Google Shape;210;p17"/>
            <p:cNvSpPr/>
            <p:nvPr/>
          </p:nvSpPr>
          <p:spPr>
            <a:xfrm>
              <a:off x="4381500" y="1143000"/>
              <a:ext cx="3429000" cy="381000"/>
            </a:xfrm>
            <a:prstGeom prst="roundRect">
              <a:avLst>
                <a:gd fmla="val 12500" name="adj"/>
              </a:avLst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7"/>
            <p:cNvSpPr txBox="1"/>
            <p:nvPr/>
          </p:nvSpPr>
          <p:spPr>
            <a:xfrm>
              <a:off x="4381500" y="1143000"/>
              <a:ext cx="342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PROCUREMENT SPOC</a:t>
              </a:r>
              <a:endParaRPr b="1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4381500" y="1619250"/>
              <a:ext cx="3429000" cy="9525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7"/>
            <p:cNvSpPr txBox="1"/>
            <p:nvPr/>
          </p:nvSpPr>
          <p:spPr>
            <a:xfrm>
              <a:off x="4476750" y="1666875"/>
              <a:ext cx="3238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TRIGGER: Vendor Requirements</a:t>
              </a:r>
              <a:endParaRPr b="1" sz="95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Invoice &amp; BU Details</a:t>
              </a:r>
              <a:br>
                <a:rPr b="1" lang="en-US" sz="90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Vendor Details</a:t>
              </a:r>
              <a:br>
                <a:rPr b="1" lang="en-US" sz="90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Contract Value</a:t>
              </a:r>
              <a:endParaRPr b="1" sz="90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4381500" y="2667000"/>
              <a:ext cx="3429000" cy="7143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7"/>
            <p:cNvSpPr txBox="1"/>
            <p:nvPr/>
          </p:nvSpPr>
          <p:spPr>
            <a:xfrm>
              <a:off x="4476750" y="2714625"/>
              <a:ext cx="32385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CAPTURE (AI)</a:t>
              </a:r>
              <a:endParaRPr b="1" sz="95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Procurement SPOC Data Validation</a:t>
              </a:r>
              <a:br>
                <a:rPr b="1" lang="en-US" sz="90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Supplier Integrity Verification</a:t>
              </a:r>
              <a:endParaRPr b="1" sz="90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4381500" y="3476625"/>
              <a:ext cx="3429000" cy="10479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4476750" y="3524250"/>
              <a:ext cx="3238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GATHER &amp; APPROVAL</a:t>
              </a:r>
              <a:endParaRPr b="1" sz="95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Procurement SPOC System Review</a:t>
              </a:r>
              <a:br>
                <a:rPr b="1" lang="en-US" sz="90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Compliance Check</a:t>
              </a:r>
              <a:br>
                <a:rPr b="1" lang="en-US" sz="90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Procurement Head Approval</a:t>
              </a:r>
              <a:endParaRPr b="1" sz="90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4381500" y="4619625"/>
              <a:ext cx="3429000" cy="714300"/>
            </a:xfrm>
            <a:prstGeom prst="roundRect">
              <a:avLst>
                <a:gd fmla="val 6665" name="adj"/>
              </a:avLst>
            </a:prstGeom>
            <a:solidFill>
              <a:srgbClr val="E8F1F2"/>
            </a:solidFill>
            <a:ln cap="flat" cmpd="sng" w="14300">
              <a:solidFill>
                <a:srgbClr val="004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7"/>
            <p:cNvSpPr txBox="1"/>
            <p:nvPr/>
          </p:nvSpPr>
          <p:spPr>
            <a:xfrm>
              <a:off x="4476750" y="4667250"/>
              <a:ext cx="32385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LOCK &amp; TRACK</a:t>
              </a:r>
              <a:endParaRPr b="1" sz="95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Status: Approved</a:t>
              </a:r>
              <a:endParaRPr b="1" sz="90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System Requirements Locked</a:t>
              </a:r>
              <a:endParaRPr b="1" sz="90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20" name="Google Shape;220;p17"/>
          <p:cNvGrpSpPr/>
          <p:nvPr/>
        </p:nvGrpSpPr>
        <p:grpSpPr>
          <a:xfrm>
            <a:off x="8191500" y="1143000"/>
            <a:ext cx="3429000" cy="4190925"/>
            <a:chOff x="8191500" y="1143000"/>
            <a:chExt cx="3429000" cy="4190925"/>
          </a:xfrm>
        </p:grpSpPr>
        <p:sp>
          <p:nvSpPr>
            <p:cNvPr id="221" name="Google Shape;221;p17"/>
            <p:cNvSpPr/>
            <p:nvPr/>
          </p:nvSpPr>
          <p:spPr>
            <a:xfrm>
              <a:off x="8191500" y="1143000"/>
              <a:ext cx="3429000" cy="381000"/>
            </a:xfrm>
            <a:prstGeom prst="roundRect">
              <a:avLst>
                <a:gd fmla="val 12500" name="adj"/>
              </a:avLst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7"/>
            <p:cNvSpPr txBox="1"/>
            <p:nvPr/>
          </p:nvSpPr>
          <p:spPr>
            <a:xfrm>
              <a:off x="8191500" y="1143000"/>
              <a:ext cx="342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FINANCE SPOC</a:t>
              </a:r>
              <a:endParaRPr b="1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8191500" y="1619250"/>
              <a:ext cx="3429000" cy="9525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7"/>
            <p:cNvSpPr txBox="1"/>
            <p:nvPr/>
          </p:nvSpPr>
          <p:spPr>
            <a:xfrm>
              <a:off x="8286750" y="1666875"/>
              <a:ext cx="3238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TRIGGER: Financial Parameters</a:t>
              </a:r>
              <a:endParaRPr b="1" sz="95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PO Details &amp; Payment Status</a:t>
              </a:r>
              <a:br>
                <a:rPr b="1" lang="en-US" sz="90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Contract Details &amp; Terms</a:t>
              </a:r>
              <a:br>
                <a:rPr b="1" lang="en-US" sz="90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Budget Verification Info</a:t>
              </a:r>
              <a:endParaRPr b="1" sz="90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8191500" y="2667000"/>
              <a:ext cx="3429000" cy="7143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7"/>
            <p:cNvSpPr txBox="1"/>
            <p:nvPr/>
          </p:nvSpPr>
          <p:spPr>
            <a:xfrm>
              <a:off x="8286750" y="2714625"/>
              <a:ext cx="32385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CAPTURE (AI)</a:t>
              </a:r>
              <a:endParaRPr b="1" sz="95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Finance SPOC Review</a:t>
              </a:r>
              <a:br>
                <a:rPr b="1" lang="en-US" sz="90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Automated Data Validation &amp; Auditing</a:t>
              </a:r>
              <a:endParaRPr b="1" sz="90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8191500" y="3476625"/>
              <a:ext cx="3429000" cy="10479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7"/>
            <p:cNvSpPr txBox="1"/>
            <p:nvPr/>
          </p:nvSpPr>
          <p:spPr>
            <a:xfrm>
              <a:off x="8286750" y="3524250"/>
              <a:ext cx="3238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GATHER &amp; APPROVAL</a:t>
              </a:r>
              <a:endParaRPr b="1" sz="95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Final Cost Validation</a:t>
              </a:r>
              <a:br>
                <a:rPr b="1" lang="en-US" sz="90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Finance Head Review &amp; Sign-off</a:t>
              </a:r>
              <a:br>
                <a:rPr b="1" lang="en-US" sz="90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Budget Allocations Confirmed</a:t>
              </a:r>
              <a:endParaRPr b="1" sz="90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8191500" y="4619625"/>
              <a:ext cx="3429000" cy="714300"/>
            </a:xfrm>
            <a:prstGeom prst="roundRect">
              <a:avLst>
                <a:gd fmla="val 6665" name="adj"/>
              </a:avLst>
            </a:prstGeom>
            <a:solidFill>
              <a:srgbClr val="E8F1F2"/>
            </a:solidFill>
            <a:ln cap="flat" cmpd="sng" w="14300">
              <a:solidFill>
                <a:srgbClr val="004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7"/>
            <p:cNvSpPr txBox="1"/>
            <p:nvPr/>
          </p:nvSpPr>
          <p:spPr>
            <a:xfrm>
              <a:off x="8286750" y="4667250"/>
              <a:ext cx="32385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LOCK &amp; TRACK</a:t>
              </a:r>
              <a:endParaRPr b="1" sz="95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Status: Approved</a:t>
              </a:r>
              <a:endParaRPr b="1" sz="90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US" sz="9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Requirements Locked &amp; Version Control</a:t>
              </a:r>
              <a:endParaRPr b="1" sz="90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1" name="Google Shape;231;p17"/>
          <p:cNvGrpSpPr/>
          <p:nvPr/>
        </p:nvGrpSpPr>
        <p:grpSpPr>
          <a:xfrm>
            <a:off x="571500" y="5476875"/>
            <a:ext cx="11049000" cy="876450"/>
            <a:chOff x="571500" y="5476875"/>
            <a:chExt cx="11049000" cy="876450"/>
          </a:xfrm>
        </p:grpSpPr>
        <p:sp>
          <p:nvSpPr>
            <p:cNvPr id="232" name="Google Shape;232;p17"/>
            <p:cNvSpPr/>
            <p:nvPr/>
          </p:nvSpPr>
          <p:spPr>
            <a:xfrm>
              <a:off x="571500" y="5476875"/>
              <a:ext cx="11049000" cy="362100"/>
            </a:xfrm>
            <a:prstGeom prst="roundRect">
              <a:avLst>
                <a:gd fmla="val 10526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7"/>
            <p:cNvSpPr txBox="1"/>
            <p:nvPr/>
          </p:nvSpPr>
          <p:spPr>
            <a:xfrm>
              <a:off x="666750" y="5476875"/>
              <a:ext cx="10858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WES Operations Team / SPOCs — Real-Time Monitoring &amp; Dashboards</a:t>
              </a:r>
              <a:endParaRPr b="1" sz="10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571500" y="5953125"/>
              <a:ext cx="11049000" cy="400200"/>
            </a:xfrm>
            <a:prstGeom prst="roundRect">
              <a:avLst>
                <a:gd fmla="val 9523" name="adj"/>
              </a:avLst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7"/>
            <p:cNvSpPr txBox="1"/>
            <p:nvPr/>
          </p:nvSpPr>
          <p:spPr>
            <a:xfrm>
              <a:off x="666750" y="5953125"/>
              <a:ext cx="10858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38BDF8"/>
                  </a:solidFill>
                  <a:latin typeface="Open Sans"/>
                  <a:ea typeface="Open Sans"/>
                  <a:cs typeface="Open Sans"/>
                  <a:sym typeface="Open Sans"/>
                </a:rPr>
                <a:t>VARIATIONS MANAGEMENT:</a:t>
              </a:r>
              <a:r>
                <a:rPr lang="en-US" sz="95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 Business changes tracked &amp; logged ➔ Complete audit trail maintenance ➔ Automated re-approval routing</a:t>
              </a:r>
              <a:endParaRPr sz="9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36" name="Google Shape;236;p17"/>
          <p:cNvSpPr txBox="1"/>
          <p:nvPr/>
        </p:nvSpPr>
        <p:spPr>
          <a:xfrm>
            <a:off x="571500" y="47625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Project Details</a:t>
            </a:r>
            <a:endParaRPr/>
          </a:p>
        </p:txBody>
      </p:sp>
      <p:grpSp>
        <p:nvGrpSpPr>
          <p:cNvPr id="237" name="Google Shape;237;p17"/>
          <p:cNvGrpSpPr/>
          <p:nvPr/>
        </p:nvGrpSpPr>
        <p:grpSpPr>
          <a:xfrm>
            <a:off x="2228850" y="1271588"/>
            <a:ext cx="5900663" cy="3348188"/>
            <a:chOff x="2228850" y="1271588"/>
            <a:chExt cx="5900663" cy="3348188"/>
          </a:xfrm>
        </p:grpSpPr>
        <p:pic>
          <p:nvPicPr>
            <p:cNvPr id="238" name="Google Shape;23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62413" y="1271588"/>
              <a:ext cx="257100" cy="12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72413" y="1271588"/>
              <a:ext cx="257100" cy="12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28850" y="2571750"/>
              <a:ext cx="1143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28850" y="3381375"/>
              <a:ext cx="1143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28850" y="4524375"/>
              <a:ext cx="1143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038850" y="2571750"/>
              <a:ext cx="1143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038850" y="3381375"/>
              <a:ext cx="114300" cy="9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038850" y="4524375"/>
              <a:ext cx="114300" cy="95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 txBox="1"/>
          <p:nvPr/>
        </p:nvSpPr>
        <p:spPr>
          <a:xfrm>
            <a:off x="571500" y="381000"/>
            <a:ext cx="11049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Business Requirements Workflow</a:t>
            </a:r>
            <a:endParaRPr b="0" sz="2600">
              <a:solidFill>
                <a:srgbClr val="0F172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grpSp>
        <p:nvGrpSpPr>
          <p:cNvPr id="251" name="Google Shape;251;p18"/>
          <p:cNvGrpSpPr/>
          <p:nvPr/>
        </p:nvGrpSpPr>
        <p:grpSpPr>
          <a:xfrm>
            <a:off x="571500" y="952500"/>
            <a:ext cx="11049000" cy="381000"/>
            <a:chOff x="571500" y="952500"/>
            <a:chExt cx="11049000" cy="381000"/>
          </a:xfrm>
        </p:grpSpPr>
        <p:sp>
          <p:nvSpPr>
            <p:cNvPr id="252" name="Google Shape;252;p18"/>
            <p:cNvSpPr/>
            <p:nvPr/>
          </p:nvSpPr>
          <p:spPr>
            <a:xfrm>
              <a:off x="571500" y="952500"/>
              <a:ext cx="11049000" cy="3810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8"/>
            <p:cNvSpPr txBox="1"/>
            <p:nvPr/>
          </p:nvSpPr>
          <p:spPr>
            <a:xfrm>
              <a:off x="762000" y="952500"/>
              <a:ext cx="10668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40AF"/>
                  </a:solidFill>
                  <a:latin typeface="Open Sans"/>
                  <a:ea typeface="Open Sans"/>
                  <a:cs typeface="Open Sans"/>
                  <a:sym typeface="Open Sans"/>
                </a:rPr>
                <a:t>⚡ TRIGGER EVENT: </a:t>
              </a:r>
              <a:r>
                <a:rPr b="0" lang="en-US" sz="11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[Client Email/RFP Received] OR [Lease Expiry Alert]</a:t>
              </a:r>
              <a:endParaRPr b="1" sz="1100">
                <a:solidFill>
                  <a:srgbClr val="1E40A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54" name="Google Shape;254;p18"/>
          <p:cNvGrpSpPr/>
          <p:nvPr/>
        </p:nvGrpSpPr>
        <p:grpSpPr>
          <a:xfrm>
            <a:off x="571500" y="1524000"/>
            <a:ext cx="3429000" cy="3524400"/>
            <a:chOff x="571500" y="1524000"/>
            <a:chExt cx="3429000" cy="3524400"/>
          </a:xfrm>
        </p:grpSpPr>
        <p:sp>
          <p:nvSpPr>
            <p:cNvPr id="255" name="Google Shape;255;p18"/>
            <p:cNvSpPr/>
            <p:nvPr/>
          </p:nvSpPr>
          <p:spPr>
            <a:xfrm>
              <a:off x="571500" y="1524000"/>
              <a:ext cx="3429000" cy="35244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8"/>
            <p:cNvSpPr/>
            <p:nvPr/>
          </p:nvSpPr>
          <p:spPr>
            <a:xfrm>
              <a:off x="571500" y="1524000"/>
              <a:ext cx="3429000" cy="438300"/>
            </a:xfrm>
            <a:prstGeom prst="roundRect">
              <a:avLst>
                <a:gd fmla="val 26086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571500" y="1771650"/>
              <a:ext cx="3429000" cy="190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8" name="Google Shape;258;p18"/>
            <p:cNvCxnSpPr/>
            <p:nvPr/>
          </p:nvCxnSpPr>
          <p:spPr>
            <a:xfrm>
              <a:off x="571500" y="1962150"/>
              <a:ext cx="3429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9" name="Google Shape;259;p18"/>
            <p:cNvSpPr txBox="1"/>
            <p:nvPr/>
          </p:nvSpPr>
          <p:spPr>
            <a:xfrm>
              <a:off x="762000" y="1524000"/>
              <a:ext cx="3048000" cy="438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1. SALES STAGE</a:t>
              </a:r>
              <a:endParaRPr b="0" sz="12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260" name="Google Shape;260;p18"/>
            <p:cNvSpPr txBox="1"/>
            <p:nvPr/>
          </p:nvSpPr>
          <p:spPr>
            <a:xfrm>
              <a:off x="762000" y="2076450"/>
              <a:ext cx="30480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SALES SPOC</a:t>
              </a:r>
              <a:endParaRPr b="0" sz="10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Upload Email / Document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AI Extraction &amp; Auto-Populate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Review &amp; Complete Requirements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Submit for Approval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SALES HEAD (APPROVER)</a:t>
              </a:r>
              <a:endParaRPr b="0" sz="10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Review Requirements &amp; Decision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✔ Approve ➔ Lock Requirements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✘ Reject ➔ Return to Sales SPOC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</p:grpSp>
      <p:pic>
        <p:nvPicPr>
          <p:cNvPr id="261" name="Google Shape;2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5275" y="3219450"/>
            <a:ext cx="171600" cy="13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18"/>
          <p:cNvGrpSpPr/>
          <p:nvPr/>
        </p:nvGrpSpPr>
        <p:grpSpPr>
          <a:xfrm>
            <a:off x="4381500" y="1524000"/>
            <a:ext cx="3429000" cy="3524400"/>
            <a:chOff x="4381500" y="1524000"/>
            <a:chExt cx="3429000" cy="3524400"/>
          </a:xfrm>
        </p:grpSpPr>
        <p:sp>
          <p:nvSpPr>
            <p:cNvPr id="263" name="Google Shape;263;p18"/>
            <p:cNvSpPr/>
            <p:nvPr/>
          </p:nvSpPr>
          <p:spPr>
            <a:xfrm>
              <a:off x="4381500" y="1524000"/>
              <a:ext cx="3429000" cy="35244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8"/>
            <p:cNvSpPr/>
            <p:nvPr/>
          </p:nvSpPr>
          <p:spPr>
            <a:xfrm>
              <a:off x="4381500" y="1524000"/>
              <a:ext cx="3429000" cy="438300"/>
            </a:xfrm>
            <a:prstGeom prst="roundRect">
              <a:avLst>
                <a:gd fmla="val 26086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8"/>
            <p:cNvSpPr/>
            <p:nvPr/>
          </p:nvSpPr>
          <p:spPr>
            <a:xfrm>
              <a:off x="4381500" y="1771650"/>
              <a:ext cx="3429000" cy="190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6" name="Google Shape;266;p18"/>
            <p:cNvCxnSpPr/>
            <p:nvPr/>
          </p:nvCxnSpPr>
          <p:spPr>
            <a:xfrm>
              <a:off x="4381500" y="1962150"/>
              <a:ext cx="3429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7" name="Google Shape;267;p18"/>
            <p:cNvSpPr txBox="1"/>
            <p:nvPr/>
          </p:nvSpPr>
          <p:spPr>
            <a:xfrm>
              <a:off x="4572000" y="1524000"/>
              <a:ext cx="3048000" cy="438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2. PROCUREMENT STAGE</a:t>
              </a:r>
              <a:endParaRPr b="0" sz="12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268" name="Google Shape;268;p18"/>
            <p:cNvSpPr txBox="1"/>
            <p:nvPr/>
          </p:nvSpPr>
          <p:spPr>
            <a:xfrm>
              <a:off x="4572000" y="2076450"/>
              <a:ext cx="30480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PROCUREMENT SPOC</a:t>
              </a:r>
              <a:endParaRPr b="0" sz="10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Add Vendor Details &amp; Verification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Associate Client &amp; BU Details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Input &amp; Validate Contract Value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Submit for Compliance Check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PROCUREMENT HEAD (APPROVER)</a:t>
              </a:r>
              <a:endParaRPr b="0" sz="10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Review Details &amp; Compliance Sign-off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✔ Approve ➔ Lock System Requirements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✘ Reject ➔ Return to Procurement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</p:grpSp>
      <p:pic>
        <p:nvPicPr>
          <p:cNvPr id="269" name="Google Shape;2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5275" y="3219450"/>
            <a:ext cx="171600" cy="13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0" name="Google Shape;270;p18"/>
          <p:cNvGrpSpPr/>
          <p:nvPr/>
        </p:nvGrpSpPr>
        <p:grpSpPr>
          <a:xfrm>
            <a:off x="8191500" y="1524000"/>
            <a:ext cx="3429000" cy="3524400"/>
            <a:chOff x="8191500" y="1524000"/>
            <a:chExt cx="3429000" cy="3524400"/>
          </a:xfrm>
        </p:grpSpPr>
        <p:sp>
          <p:nvSpPr>
            <p:cNvPr id="271" name="Google Shape;271;p18"/>
            <p:cNvSpPr/>
            <p:nvPr/>
          </p:nvSpPr>
          <p:spPr>
            <a:xfrm>
              <a:off x="8191500" y="1524000"/>
              <a:ext cx="3429000" cy="35244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8"/>
            <p:cNvSpPr/>
            <p:nvPr/>
          </p:nvSpPr>
          <p:spPr>
            <a:xfrm>
              <a:off x="8191500" y="1524000"/>
              <a:ext cx="3429000" cy="438300"/>
            </a:xfrm>
            <a:prstGeom prst="roundRect">
              <a:avLst>
                <a:gd fmla="val 26086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8191500" y="1771650"/>
              <a:ext cx="3429000" cy="190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4" name="Google Shape;274;p18"/>
            <p:cNvCxnSpPr/>
            <p:nvPr/>
          </p:nvCxnSpPr>
          <p:spPr>
            <a:xfrm>
              <a:off x="8191500" y="1962150"/>
              <a:ext cx="3429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5" name="Google Shape;275;p18"/>
            <p:cNvSpPr txBox="1"/>
            <p:nvPr/>
          </p:nvSpPr>
          <p:spPr>
            <a:xfrm>
              <a:off x="8382000" y="1524000"/>
              <a:ext cx="3048000" cy="438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3. FINANCE STAGE</a:t>
              </a:r>
              <a:endParaRPr b="0" sz="12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276" name="Google Shape;276;p18"/>
            <p:cNvSpPr txBox="1"/>
            <p:nvPr/>
          </p:nvSpPr>
          <p:spPr>
            <a:xfrm>
              <a:off x="8382000" y="2076450"/>
              <a:ext cx="30480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FINANCE SPOC</a:t>
              </a:r>
              <a:endParaRPr b="0" sz="10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Add Invoice Details &amp; Validation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Input PO Details &amp; Payment Status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Verify Budget Parameters &amp; Terms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Submit for Final Sign-off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FINANCE HEAD (APPROVER)</a:t>
              </a:r>
              <a:endParaRPr b="0" sz="10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Review Financials &amp; Budget Allocations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✔ Approve ➔ Lock &amp; Version Control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✘ Reject ➔ Return to Finance SPOC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</p:grpSp>
      <p:grpSp>
        <p:nvGrpSpPr>
          <p:cNvPr id="277" name="Google Shape;277;p18"/>
          <p:cNvGrpSpPr/>
          <p:nvPr/>
        </p:nvGrpSpPr>
        <p:grpSpPr>
          <a:xfrm>
            <a:off x="571500" y="5238750"/>
            <a:ext cx="11049000" cy="619200"/>
            <a:chOff x="571500" y="5238750"/>
            <a:chExt cx="11049000" cy="619200"/>
          </a:xfrm>
        </p:grpSpPr>
        <p:sp>
          <p:nvSpPr>
            <p:cNvPr id="278" name="Google Shape;278;p18"/>
            <p:cNvSpPr/>
            <p:nvPr/>
          </p:nvSpPr>
          <p:spPr>
            <a:xfrm>
              <a:off x="571500" y="5238750"/>
              <a:ext cx="11049000" cy="619200"/>
            </a:xfrm>
            <a:prstGeom prst="roundRect">
              <a:avLst>
                <a:gd fmla="val 12307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8"/>
            <p:cNvSpPr txBox="1"/>
            <p:nvPr/>
          </p:nvSpPr>
          <p:spPr>
            <a:xfrm>
              <a:off x="762000" y="5286375"/>
              <a:ext cx="106680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38BDF8"/>
                  </a:solidFill>
                  <a:latin typeface="Open Sans"/>
                  <a:ea typeface="Open Sans"/>
                  <a:cs typeface="Open Sans"/>
                  <a:sym typeface="Open Sans"/>
                </a:rPr>
                <a:t>🔄 ONGOING MONITORING &amp; VARIATIONS (WES Operations &amp; All SPOCs)</a:t>
              </a:r>
              <a:endParaRPr b="1" sz="950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94A3B8"/>
                  </a:solidFill>
                  <a:latin typeface="Open Sans"/>
                  <a:ea typeface="Open Sans"/>
                  <a:cs typeface="Open Sans"/>
                  <a:sym typeface="Open Sans"/>
                </a:rPr>
                <a:t>Real-Time Dashboard &amp; Status Tracking via Power BI ➔ Change Detection ➔ Trigger Variation Workflow ➔ Automated Re-Approval Routing &amp; Audit Trail Maintenance</a:t>
              </a:r>
              <a:endParaRPr b="0" sz="9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80" name="Google Shape;280;p18"/>
          <p:cNvGrpSpPr/>
          <p:nvPr/>
        </p:nvGrpSpPr>
        <p:grpSpPr>
          <a:xfrm>
            <a:off x="571500" y="6000750"/>
            <a:ext cx="11049000" cy="381000"/>
            <a:chOff x="571500" y="6000750"/>
            <a:chExt cx="11049000" cy="381000"/>
          </a:xfrm>
        </p:grpSpPr>
        <p:sp>
          <p:nvSpPr>
            <p:cNvPr id="281" name="Google Shape;281;p18"/>
            <p:cNvSpPr/>
            <p:nvPr/>
          </p:nvSpPr>
          <p:spPr>
            <a:xfrm>
              <a:off x="571500" y="6000750"/>
              <a:ext cx="11049000" cy="381000"/>
            </a:xfrm>
            <a:prstGeom prst="roundRect">
              <a:avLst>
                <a:gd fmla="val 20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8"/>
            <p:cNvSpPr txBox="1"/>
            <p:nvPr/>
          </p:nvSpPr>
          <p:spPr>
            <a:xfrm>
              <a:off x="762000" y="6000750"/>
              <a:ext cx="10668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End State: Requirements Fully Approved, Locked, &amp; Ready for Execution</a:t>
              </a:r>
              <a:endParaRPr b="1" sz="1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9"/>
          <p:cNvSpPr txBox="1"/>
          <p:nvPr/>
        </p:nvSpPr>
        <p:spPr>
          <a:xfrm>
            <a:off x="571500" y="28575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Business Requirements Workflow</a:t>
            </a:r>
            <a:endParaRPr b="0" sz="2400">
              <a:solidFill>
                <a:srgbClr val="0F172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571500" y="762000"/>
            <a:ext cx="11049000" cy="34290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762000" y="7620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E40AF"/>
                </a:solidFill>
                <a:latin typeface="Open Sans"/>
                <a:ea typeface="Open Sans"/>
                <a:cs typeface="Open Sans"/>
                <a:sym typeface="Open Sans"/>
              </a:rPr>
              <a:t>⚡ TRIGGER EVENT: </a:t>
            </a:r>
            <a:r>
              <a:rPr b="0" lang="en-US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[Client Email/RFP Received] OR [Lease Expiry Alert]</a:t>
            </a:r>
            <a:endParaRPr b="1" sz="1000">
              <a:solidFill>
                <a:srgbClr val="1E40A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91" name="Google Shape;291;p19"/>
          <p:cNvGrpSpPr/>
          <p:nvPr/>
        </p:nvGrpSpPr>
        <p:grpSpPr>
          <a:xfrm>
            <a:off x="571500" y="1257300"/>
            <a:ext cx="3429000" cy="3409950"/>
            <a:chOff x="571500" y="1257300"/>
            <a:chExt cx="3429000" cy="3409950"/>
          </a:xfrm>
        </p:grpSpPr>
        <p:sp>
          <p:nvSpPr>
            <p:cNvPr id="292" name="Google Shape;292;p19"/>
            <p:cNvSpPr/>
            <p:nvPr/>
          </p:nvSpPr>
          <p:spPr>
            <a:xfrm>
              <a:off x="571500" y="1257300"/>
              <a:ext cx="3429000" cy="333300"/>
            </a:xfrm>
            <a:prstGeom prst="roundRect">
              <a:avLst>
                <a:gd fmla="val 14285" name="adj"/>
              </a:avLst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9"/>
            <p:cNvSpPr txBox="1"/>
            <p:nvPr/>
          </p:nvSpPr>
          <p:spPr>
            <a:xfrm>
              <a:off x="571500" y="1257300"/>
              <a:ext cx="3429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1. SALES STAGE</a:t>
              </a:r>
              <a:endParaRPr b="1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571500" y="1685925"/>
              <a:ext cx="3429000" cy="1476300"/>
            </a:xfrm>
            <a:prstGeom prst="roundRect">
              <a:avLst>
                <a:gd fmla="val 32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9"/>
            <p:cNvSpPr txBox="1"/>
            <p:nvPr/>
          </p:nvSpPr>
          <p:spPr>
            <a:xfrm>
              <a:off x="714375" y="1781175"/>
              <a:ext cx="31434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SALES SPOC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Upload Email / Document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AI Extraction &amp; Auto-Populate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Review &amp; Complete Requirements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Submit for Approval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571500" y="3257550"/>
              <a:ext cx="3429000" cy="1409700"/>
            </a:xfrm>
            <a:prstGeom prst="roundRect">
              <a:avLst>
                <a:gd fmla="val 337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9"/>
            <p:cNvSpPr txBox="1"/>
            <p:nvPr/>
          </p:nvSpPr>
          <p:spPr>
            <a:xfrm>
              <a:off x="714375" y="3352800"/>
              <a:ext cx="31434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SALES HEAD (APPROVER)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Review Requirements &amp; Decision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6A34A"/>
                  </a:solidFill>
                  <a:latin typeface="Open Sans"/>
                  <a:ea typeface="Open Sans"/>
                  <a:cs typeface="Open Sans"/>
                  <a:sym typeface="Open Sans"/>
                </a:rPr>
                <a:t>✔ Approve ➔ Lock Requirements</a:t>
              </a:r>
              <a:endParaRPr b="1" sz="900">
                <a:solidFill>
                  <a:srgbClr val="16A34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DC2626"/>
                  </a:solidFill>
                  <a:latin typeface="Open Sans"/>
                  <a:ea typeface="Open Sans"/>
                  <a:cs typeface="Open Sans"/>
                  <a:sym typeface="Open Sans"/>
                </a:rPr>
                <a:t>✘ Reject ➔ Return to Sales SPOC</a:t>
              </a:r>
              <a:endParaRPr b="1" sz="900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98" name="Google Shape;298;p19"/>
          <p:cNvSpPr txBox="1"/>
          <p:nvPr/>
        </p:nvSpPr>
        <p:spPr>
          <a:xfrm>
            <a:off x="4114800" y="2883789"/>
            <a:ext cx="247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sz="18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299" name="Google Shape;299;p19"/>
          <p:cNvGrpSpPr/>
          <p:nvPr/>
        </p:nvGrpSpPr>
        <p:grpSpPr>
          <a:xfrm>
            <a:off x="4476750" y="1257300"/>
            <a:ext cx="3429000" cy="3409950"/>
            <a:chOff x="4476750" y="1257300"/>
            <a:chExt cx="3429000" cy="3409950"/>
          </a:xfrm>
        </p:grpSpPr>
        <p:sp>
          <p:nvSpPr>
            <p:cNvPr id="300" name="Google Shape;300;p19"/>
            <p:cNvSpPr/>
            <p:nvPr/>
          </p:nvSpPr>
          <p:spPr>
            <a:xfrm>
              <a:off x="4476750" y="1257300"/>
              <a:ext cx="3429000" cy="333300"/>
            </a:xfrm>
            <a:prstGeom prst="roundRect">
              <a:avLst>
                <a:gd fmla="val 14285" name="adj"/>
              </a:avLst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9"/>
            <p:cNvSpPr txBox="1"/>
            <p:nvPr/>
          </p:nvSpPr>
          <p:spPr>
            <a:xfrm>
              <a:off x="4476750" y="1257300"/>
              <a:ext cx="3429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2. PROCUREMENT STAGE</a:t>
              </a:r>
              <a:endParaRPr b="1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4476750" y="1685925"/>
              <a:ext cx="3429000" cy="1476300"/>
            </a:xfrm>
            <a:prstGeom prst="roundRect">
              <a:avLst>
                <a:gd fmla="val 32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9"/>
            <p:cNvSpPr txBox="1"/>
            <p:nvPr/>
          </p:nvSpPr>
          <p:spPr>
            <a:xfrm>
              <a:off x="4619625" y="1781175"/>
              <a:ext cx="31434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PROCUREMENT SPOC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Add Vendor Details &amp; Verification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Associate Client &amp; BU Details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Input &amp; Validate Contract Value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Submit for Compliance Check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4476750" y="3257550"/>
              <a:ext cx="3429000" cy="1409700"/>
            </a:xfrm>
            <a:prstGeom prst="roundRect">
              <a:avLst>
                <a:gd fmla="val 337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9"/>
            <p:cNvSpPr txBox="1"/>
            <p:nvPr/>
          </p:nvSpPr>
          <p:spPr>
            <a:xfrm>
              <a:off x="4619625" y="3352800"/>
              <a:ext cx="31434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PROCUREMENT HEAD (APPROVER)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Review Details &amp; Compliance Sign-off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6A34A"/>
                  </a:solidFill>
                  <a:latin typeface="Open Sans"/>
                  <a:ea typeface="Open Sans"/>
                  <a:cs typeface="Open Sans"/>
                  <a:sym typeface="Open Sans"/>
                </a:rPr>
                <a:t>✔ Approve ➔ Lock System</a:t>
              </a:r>
              <a:endParaRPr b="1" sz="900">
                <a:solidFill>
                  <a:srgbClr val="16A34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DC2626"/>
                  </a:solidFill>
                  <a:latin typeface="Open Sans"/>
                  <a:ea typeface="Open Sans"/>
                  <a:cs typeface="Open Sans"/>
                  <a:sym typeface="Open Sans"/>
                </a:rPr>
                <a:t>✘ Reject ➔ Return to Proc.</a:t>
              </a:r>
              <a:endParaRPr b="1" sz="900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06" name="Google Shape;306;p19"/>
          <p:cNvSpPr txBox="1"/>
          <p:nvPr/>
        </p:nvSpPr>
        <p:spPr>
          <a:xfrm>
            <a:off x="8020050" y="2883789"/>
            <a:ext cx="247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sz="18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307" name="Google Shape;307;p19"/>
          <p:cNvGrpSpPr/>
          <p:nvPr/>
        </p:nvGrpSpPr>
        <p:grpSpPr>
          <a:xfrm>
            <a:off x="8382000" y="1257300"/>
            <a:ext cx="3238500" cy="3409950"/>
            <a:chOff x="8382000" y="1257300"/>
            <a:chExt cx="3238500" cy="3409950"/>
          </a:xfrm>
        </p:grpSpPr>
        <p:sp>
          <p:nvSpPr>
            <p:cNvPr id="308" name="Google Shape;308;p19"/>
            <p:cNvSpPr/>
            <p:nvPr/>
          </p:nvSpPr>
          <p:spPr>
            <a:xfrm>
              <a:off x="8382000" y="1257300"/>
              <a:ext cx="3238500" cy="333300"/>
            </a:xfrm>
            <a:prstGeom prst="roundRect">
              <a:avLst>
                <a:gd fmla="val 14285" name="adj"/>
              </a:avLst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9"/>
            <p:cNvSpPr txBox="1"/>
            <p:nvPr/>
          </p:nvSpPr>
          <p:spPr>
            <a:xfrm>
              <a:off x="8382000" y="1257300"/>
              <a:ext cx="3238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3. FINANCE STAGE</a:t>
              </a:r>
              <a:endParaRPr b="1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8382000" y="1685925"/>
              <a:ext cx="3238500" cy="1476300"/>
            </a:xfrm>
            <a:prstGeom prst="roundRect">
              <a:avLst>
                <a:gd fmla="val 322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9"/>
            <p:cNvSpPr txBox="1"/>
            <p:nvPr/>
          </p:nvSpPr>
          <p:spPr>
            <a:xfrm>
              <a:off x="8524875" y="1781175"/>
              <a:ext cx="2952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FINANCE SPOC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Add Invoice Details &amp; Validation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Input PO Details &amp; Payment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Verify Budget &amp; Terms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85750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Submit for Final Sign-off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2" name="Google Shape;312;p19"/>
            <p:cNvSpPr/>
            <p:nvPr/>
          </p:nvSpPr>
          <p:spPr>
            <a:xfrm>
              <a:off x="8382000" y="3257550"/>
              <a:ext cx="2000100" cy="1409700"/>
            </a:xfrm>
            <a:prstGeom prst="roundRect">
              <a:avLst>
                <a:gd fmla="val 337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9"/>
            <p:cNvSpPr txBox="1"/>
            <p:nvPr/>
          </p:nvSpPr>
          <p:spPr>
            <a:xfrm>
              <a:off x="8524875" y="3352800"/>
              <a:ext cx="17145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FINANCE HEAD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6A34A"/>
                  </a:solidFill>
                  <a:latin typeface="Open Sans"/>
                  <a:ea typeface="Open Sans"/>
                  <a:cs typeface="Open Sans"/>
                  <a:sym typeface="Open Sans"/>
                </a:rPr>
                <a:t>✔ Approve ➔ Lock &amp; Version</a:t>
              </a:r>
              <a:endParaRPr b="1" sz="900">
                <a:solidFill>
                  <a:srgbClr val="16A34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DC2626"/>
                  </a:solidFill>
                  <a:latin typeface="Open Sans"/>
                  <a:ea typeface="Open Sans"/>
                  <a:cs typeface="Open Sans"/>
                  <a:sym typeface="Open Sans"/>
                </a:rPr>
                <a:t>✘ Reject ➔ Return</a:t>
              </a:r>
              <a:endParaRPr b="1" sz="900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4" name="Google Shape;314;p19"/>
            <p:cNvSpPr/>
            <p:nvPr/>
          </p:nvSpPr>
          <p:spPr>
            <a:xfrm>
              <a:off x="10477500" y="3257550"/>
              <a:ext cx="1143000" cy="1409700"/>
            </a:xfrm>
            <a:prstGeom prst="roundRect">
              <a:avLst>
                <a:gd fmla="val 4166" name="adj"/>
              </a:avLst>
            </a:prstGeom>
            <a:solidFill>
              <a:srgbClr val="E8F1F2"/>
            </a:solidFill>
            <a:ln cap="flat" cmpd="sng" w="14300">
              <a:solidFill>
                <a:srgbClr val="004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9"/>
            <p:cNvSpPr txBox="1"/>
            <p:nvPr/>
          </p:nvSpPr>
          <p:spPr>
            <a:xfrm>
              <a:off x="10572750" y="3352800"/>
              <a:ext cx="9525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END STATE</a:t>
              </a:r>
              <a:endParaRPr b="0" sz="95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Requirements Fully Approved &amp; Locked</a:t>
              </a:r>
              <a:endParaRPr b="1" sz="90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16" name="Google Shape;316;p19"/>
          <p:cNvSpPr/>
          <p:nvPr/>
        </p:nvSpPr>
        <p:spPr>
          <a:xfrm>
            <a:off x="571500" y="4810125"/>
            <a:ext cx="11049000" cy="609600"/>
          </a:xfrm>
          <a:prstGeom prst="roundRect">
            <a:avLst>
              <a:gd fmla="val 125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762000" y="4810125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rPr>
              <a:t>🔄 ONGOING MONITORING &amp; VARIATIONS (WES Operations &amp; All SPOCs)</a:t>
            </a:r>
            <a:endParaRPr b="1" sz="1000">
              <a:solidFill>
                <a:srgbClr val="38BDF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Real-Time Dashboard &amp; Status Tracking via Power BI ➔ Change Detection ➔ Trigger Variation Workflow ➔ Automated Re-Approval Routing &amp; Audit Trail Maintenance</a:t>
            </a:r>
            <a:endParaRPr b="0" sz="85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571500" y="5543550"/>
            <a:ext cx="11049000" cy="362100"/>
          </a:xfrm>
          <a:prstGeom prst="roundRect">
            <a:avLst>
              <a:gd fmla="val 21052" name="adj"/>
            </a:avLst>
          </a:prstGeom>
          <a:solidFill>
            <a:srgbClr val="1E40A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9"/>
          <p:cNvSpPr txBox="1"/>
          <p:nvPr/>
        </p:nvSpPr>
        <p:spPr>
          <a:xfrm>
            <a:off x="762000" y="5543550"/>
            <a:ext cx="10668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End State: Requirements Fully Approved, Locked, &amp; Ready for Execution</a:t>
            </a:r>
            <a:endParaRPr b="1" sz="1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571500" y="381000"/>
            <a:ext cx="11049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High Level Process Map</a:t>
            </a:r>
            <a:endParaRPr b="0" sz="2600">
              <a:solidFill>
                <a:srgbClr val="0F172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grpSp>
        <p:nvGrpSpPr>
          <p:cNvPr id="326" name="Google Shape;326;p20"/>
          <p:cNvGrpSpPr/>
          <p:nvPr/>
        </p:nvGrpSpPr>
        <p:grpSpPr>
          <a:xfrm>
            <a:off x="571500" y="952500"/>
            <a:ext cx="11049000" cy="381000"/>
            <a:chOff x="571500" y="952500"/>
            <a:chExt cx="11049000" cy="381000"/>
          </a:xfrm>
        </p:grpSpPr>
        <p:sp>
          <p:nvSpPr>
            <p:cNvPr id="327" name="Google Shape;327;p20"/>
            <p:cNvSpPr/>
            <p:nvPr/>
          </p:nvSpPr>
          <p:spPr>
            <a:xfrm>
              <a:off x="571500" y="952500"/>
              <a:ext cx="11049000" cy="3810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0"/>
            <p:cNvSpPr txBox="1"/>
            <p:nvPr/>
          </p:nvSpPr>
          <p:spPr>
            <a:xfrm>
              <a:off x="762000" y="952500"/>
              <a:ext cx="1066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40AF"/>
                  </a:solidFill>
                  <a:latin typeface="Open Sans"/>
                  <a:ea typeface="Open Sans"/>
                  <a:cs typeface="Open Sans"/>
                  <a:sym typeface="Open Sans"/>
                </a:rPr>
                <a:t>⚡ TRIGGER EVENT: </a:t>
              </a:r>
              <a:r>
                <a:rPr b="0" lang="en-US" sz="11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[Client Email/RFP Received] OR [Lease Expiry Alert]</a:t>
              </a:r>
              <a:endParaRPr b="1" sz="1100">
                <a:solidFill>
                  <a:srgbClr val="1E40A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29" name="Google Shape;329;p20"/>
          <p:cNvGrpSpPr/>
          <p:nvPr/>
        </p:nvGrpSpPr>
        <p:grpSpPr>
          <a:xfrm>
            <a:off x="571500" y="1524000"/>
            <a:ext cx="3429000" cy="3524400"/>
            <a:chOff x="571500" y="1524000"/>
            <a:chExt cx="3429000" cy="3524400"/>
          </a:xfrm>
        </p:grpSpPr>
        <p:sp>
          <p:nvSpPr>
            <p:cNvPr id="330" name="Google Shape;330;p20"/>
            <p:cNvSpPr/>
            <p:nvPr/>
          </p:nvSpPr>
          <p:spPr>
            <a:xfrm>
              <a:off x="571500" y="1524000"/>
              <a:ext cx="3429000" cy="35244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0"/>
            <p:cNvSpPr/>
            <p:nvPr/>
          </p:nvSpPr>
          <p:spPr>
            <a:xfrm>
              <a:off x="571500" y="1524000"/>
              <a:ext cx="3429000" cy="438300"/>
            </a:xfrm>
            <a:prstGeom prst="roundRect">
              <a:avLst>
                <a:gd fmla="val 26086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571500" y="1771650"/>
              <a:ext cx="3429000" cy="190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33" name="Google Shape;333;p20"/>
            <p:cNvCxnSpPr/>
            <p:nvPr/>
          </p:nvCxnSpPr>
          <p:spPr>
            <a:xfrm>
              <a:off x="571500" y="1962150"/>
              <a:ext cx="3429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4" name="Google Shape;334;p20"/>
            <p:cNvSpPr txBox="1"/>
            <p:nvPr/>
          </p:nvSpPr>
          <p:spPr>
            <a:xfrm>
              <a:off x="762000" y="1524000"/>
              <a:ext cx="3048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1. SALES STAGE</a:t>
              </a:r>
              <a:endParaRPr b="0" sz="12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335" name="Google Shape;335;p20"/>
            <p:cNvSpPr txBox="1"/>
            <p:nvPr/>
          </p:nvSpPr>
          <p:spPr>
            <a:xfrm>
              <a:off x="762000" y="2076450"/>
              <a:ext cx="3048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SALES SPOC</a:t>
              </a:r>
              <a:endParaRPr b="0" sz="10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Upload Email / Document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AI Extraction &amp; Auto-Populate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Review &amp; Complete Requirements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Submit for Approval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SALES HEAD (APPROVER)</a:t>
              </a:r>
              <a:endParaRPr b="0" sz="10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Review Requirements &amp; Decision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✔ Approve ➔ Lock Requirements</a:t>
              </a:r>
              <a:endParaRPr b="1" sz="95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✘ Reject ➔ Return to Sales SPOC</a:t>
              </a:r>
              <a:endParaRPr b="1" sz="95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36" name="Google Shape;336;p20"/>
          <p:cNvSpPr txBox="1"/>
          <p:nvPr/>
        </p:nvSpPr>
        <p:spPr>
          <a:xfrm>
            <a:off x="4095750" y="3165157"/>
            <a:ext cx="190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sz="15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337" name="Google Shape;337;p20"/>
          <p:cNvGrpSpPr/>
          <p:nvPr/>
        </p:nvGrpSpPr>
        <p:grpSpPr>
          <a:xfrm>
            <a:off x="4381500" y="1524000"/>
            <a:ext cx="3429000" cy="3524400"/>
            <a:chOff x="4381500" y="1524000"/>
            <a:chExt cx="3429000" cy="3524400"/>
          </a:xfrm>
        </p:grpSpPr>
        <p:sp>
          <p:nvSpPr>
            <p:cNvPr id="338" name="Google Shape;338;p20"/>
            <p:cNvSpPr/>
            <p:nvPr/>
          </p:nvSpPr>
          <p:spPr>
            <a:xfrm>
              <a:off x="4381500" y="1524000"/>
              <a:ext cx="3429000" cy="35244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4381500" y="1524000"/>
              <a:ext cx="3429000" cy="438300"/>
            </a:xfrm>
            <a:prstGeom prst="roundRect">
              <a:avLst>
                <a:gd fmla="val 26086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4381500" y="1771650"/>
              <a:ext cx="3429000" cy="190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41" name="Google Shape;341;p20"/>
            <p:cNvCxnSpPr/>
            <p:nvPr/>
          </p:nvCxnSpPr>
          <p:spPr>
            <a:xfrm>
              <a:off x="4381500" y="1962150"/>
              <a:ext cx="3429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2" name="Google Shape;342;p20"/>
            <p:cNvSpPr txBox="1"/>
            <p:nvPr/>
          </p:nvSpPr>
          <p:spPr>
            <a:xfrm>
              <a:off x="4572000" y="1524000"/>
              <a:ext cx="3048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2. PROCUREMENT STAGE</a:t>
              </a:r>
              <a:endParaRPr b="0" sz="12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343" name="Google Shape;343;p20"/>
            <p:cNvSpPr txBox="1"/>
            <p:nvPr/>
          </p:nvSpPr>
          <p:spPr>
            <a:xfrm>
              <a:off x="4572000" y="2076450"/>
              <a:ext cx="3048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PROCUREMENT SPOC</a:t>
              </a:r>
              <a:endParaRPr b="0" sz="10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Add Vendor Details &amp; Verification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Associate Client &amp; BU Details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Input &amp; Validate Contract Value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Submit for Compliance Check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PROCUREMENT HEAD (APPROVER)</a:t>
              </a:r>
              <a:endParaRPr b="0" sz="10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Review Details &amp; Compliance Sign-off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✔ Approve ➔ Lock System Requirements</a:t>
              </a:r>
              <a:endParaRPr b="1" sz="95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✘ Reject ➔ Return to Procurement</a:t>
              </a:r>
              <a:endParaRPr b="1" sz="95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44" name="Google Shape;344;p20"/>
          <p:cNvSpPr txBox="1"/>
          <p:nvPr/>
        </p:nvSpPr>
        <p:spPr>
          <a:xfrm>
            <a:off x="7905750" y="3165157"/>
            <a:ext cx="190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sz="15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345" name="Google Shape;345;p20"/>
          <p:cNvGrpSpPr/>
          <p:nvPr/>
        </p:nvGrpSpPr>
        <p:grpSpPr>
          <a:xfrm>
            <a:off x="8191500" y="1524000"/>
            <a:ext cx="3429000" cy="3524400"/>
            <a:chOff x="8191500" y="1524000"/>
            <a:chExt cx="3429000" cy="3524400"/>
          </a:xfrm>
        </p:grpSpPr>
        <p:sp>
          <p:nvSpPr>
            <p:cNvPr id="346" name="Google Shape;346;p20"/>
            <p:cNvSpPr/>
            <p:nvPr/>
          </p:nvSpPr>
          <p:spPr>
            <a:xfrm>
              <a:off x="8191500" y="1524000"/>
              <a:ext cx="3429000" cy="35244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8191500" y="1524000"/>
              <a:ext cx="3429000" cy="438300"/>
            </a:xfrm>
            <a:prstGeom prst="roundRect">
              <a:avLst>
                <a:gd fmla="val 26086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8191500" y="1771650"/>
              <a:ext cx="3429000" cy="190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49" name="Google Shape;349;p20"/>
            <p:cNvCxnSpPr/>
            <p:nvPr/>
          </p:nvCxnSpPr>
          <p:spPr>
            <a:xfrm>
              <a:off x="8191500" y="1962150"/>
              <a:ext cx="3429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0" name="Google Shape;350;p20"/>
            <p:cNvSpPr txBox="1"/>
            <p:nvPr/>
          </p:nvSpPr>
          <p:spPr>
            <a:xfrm>
              <a:off x="8382000" y="1524000"/>
              <a:ext cx="3048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3. FINANCE STAGE</a:t>
              </a:r>
              <a:endParaRPr b="0" sz="12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351" name="Google Shape;351;p20"/>
            <p:cNvSpPr txBox="1"/>
            <p:nvPr/>
          </p:nvSpPr>
          <p:spPr>
            <a:xfrm>
              <a:off x="8382000" y="2076450"/>
              <a:ext cx="3048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FINANCE SPOC</a:t>
              </a:r>
              <a:endParaRPr b="0" sz="10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Add Invoice Details &amp; Validation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Input PO Details &amp; Payment Status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Verify Budget Parameters &amp; Terms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Submit for Final Sign-off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FINANCE HEAD (APPROVER)</a:t>
              </a:r>
              <a:endParaRPr b="0" sz="10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Review Financials &amp; Budget Allocations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✔ Approve ➔ Lock &amp; Version Control</a:t>
              </a:r>
              <a:endParaRPr b="1" sz="95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✘ Reject ➔ Return to Finance SPOC</a:t>
              </a:r>
              <a:endParaRPr b="1" sz="95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52" name="Google Shape;352;p20"/>
          <p:cNvGrpSpPr/>
          <p:nvPr/>
        </p:nvGrpSpPr>
        <p:grpSpPr>
          <a:xfrm>
            <a:off x="571500" y="5238750"/>
            <a:ext cx="11049000" cy="619200"/>
            <a:chOff x="571500" y="5238750"/>
            <a:chExt cx="11049000" cy="619200"/>
          </a:xfrm>
        </p:grpSpPr>
        <p:sp>
          <p:nvSpPr>
            <p:cNvPr id="353" name="Google Shape;353;p20"/>
            <p:cNvSpPr/>
            <p:nvPr/>
          </p:nvSpPr>
          <p:spPr>
            <a:xfrm>
              <a:off x="571500" y="5238750"/>
              <a:ext cx="11049000" cy="619200"/>
            </a:xfrm>
            <a:prstGeom prst="roundRect">
              <a:avLst>
                <a:gd fmla="val 12307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0"/>
            <p:cNvSpPr txBox="1"/>
            <p:nvPr/>
          </p:nvSpPr>
          <p:spPr>
            <a:xfrm>
              <a:off x="762000" y="5238750"/>
              <a:ext cx="1066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38BDF8"/>
                  </a:solidFill>
                  <a:latin typeface="Open Sans"/>
                  <a:ea typeface="Open Sans"/>
                  <a:cs typeface="Open Sans"/>
                  <a:sym typeface="Open Sans"/>
                </a:rPr>
                <a:t>🔄 ONGOING MONITORING &amp; VARIATIONS (WES Operations &amp; All SPOCs)</a:t>
              </a:r>
              <a:endParaRPr b="1" sz="950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94A3B8"/>
                  </a:solidFill>
                  <a:latin typeface="Open Sans"/>
                  <a:ea typeface="Open Sans"/>
                  <a:cs typeface="Open Sans"/>
                  <a:sym typeface="Open Sans"/>
                </a:rPr>
                <a:t>Real-Time Dashboard &amp; Status Tracking via Power BI ➔ Change Detection ➔ Trigger Variation Workflow ➔ Automated Re-Approval Routing &amp; Audit Trail Maintenance</a:t>
              </a:r>
              <a:endParaRPr b="0" sz="9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55" name="Google Shape;355;p20"/>
          <p:cNvGrpSpPr/>
          <p:nvPr/>
        </p:nvGrpSpPr>
        <p:grpSpPr>
          <a:xfrm>
            <a:off x="571500" y="6000750"/>
            <a:ext cx="11049000" cy="381000"/>
            <a:chOff x="571500" y="6000750"/>
            <a:chExt cx="11049000" cy="381000"/>
          </a:xfrm>
        </p:grpSpPr>
        <p:sp>
          <p:nvSpPr>
            <p:cNvPr id="356" name="Google Shape;356;p20"/>
            <p:cNvSpPr/>
            <p:nvPr/>
          </p:nvSpPr>
          <p:spPr>
            <a:xfrm>
              <a:off x="571500" y="6000750"/>
              <a:ext cx="11049000" cy="381000"/>
            </a:xfrm>
            <a:prstGeom prst="roundRect">
              <a:avLst>
                <a:gd fmla="val 20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0"/>
            <p:cNvSpPr txBox="1"/>
            <p:nvPr/>
          </p:nvSpPr>
          <p:spPr>
            <a:xfrm>
              <a:off x="762000" y="6000750"/>
              <a:ext cx="1066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End State: Requirements Fully Approved, Locked, &amp; Ready for Execution</a:t>
              </a:r>
              <a:endParaRPr b="1" sz="1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1"/>
          <p:cNvSpPr txBox="1"/>
          <p:nvPr/>
        </p:nvSpPr>
        <p:spPr>
          <a:xfrm>
            <a:off x="571500" y="28575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Business Requirements Workflow</a:t>
            </a:r>
            <a:endParaRPr b="0" sz="2400">
              <a:solidFill>
                <a:srgbClr val="0F172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571500" y="762000"/>
            <a:ext cx="11049000" cy="34290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762000" y="7620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E40AF"/>
                </a:solidFill>
                <a:latin typeface="Open Sans"/>
                <a:ea typeface="Open Sans"/>
                <a:cs typeface="Open Sans"/>
                <a:sym typeface="Open Sans"/>
              </a:rPr>
              <a:t>⚡ TRIGGER EVENT: </a:t>
            </a:r>
            <a:r>
              <a:rPr b="0" lang="en-US"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[Client Email/RFP Received] OR [Lease Expiry Alert]</a:t>
            </a:r>
            <a:endParaRPr b="1" sz="1000">
              <a:solidFill>
                <a:srgbClr val="1E40A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66" name="Google Shape;366;p21"/>
          <p:cNvGrpSpPr/>
          <p:nvPr/>
        </p:nvGrpSpPr>
        <p:grpSpPr>
          <a:xfrm>
            <a:off x="571500" y="1257300"/>
            <a:ext cx="5762625" cy="3410100"/>
            <a:chOff x="571500" y="1257300"/>
            <a:chExt cx="5762625" cy="3410100"/>
          </a:xfrm>
        </p:grpSpPr>
        <p:sp>
          <p:nvSpPr>
            <p:cNvPr id="367" name="Google Shape;367;p21"/>
            <p:cNvSpPr/>
            <p:nvPr/>
          </p:nvSpPr>
          <p:spPr>
            <a:xfrm>
              <a:off x="571500" y="1257300"/>
              <a:ext cx="952500" cy="3410100"/>
            </a:xfrm>
            <a:prstGeom prst="roundRect">
              <a:avLst>
                <a:gd fmla="val 8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1"/>
            <p:cNvSpPr txBox="1"/>
            <p:nvPr/>
          </p:nvSpPr>
          <p:spPr>
            <a:xfrm>
              <a:off x="619125" y="1257300"/>
              <a:ext cx="857400" cy="341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1. SALES</a:t>
              </a:r>
              <a:br>
                <a:rPr b="0" lang="en-US" sz="11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</a:br>
              <a:r>
                <a:rPr b="0" lang="en-US" sz="11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STAGE</a:t>
              </a:r>
              <a:endParaRPr b="0" sz="11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grpSp>
          <p:nvGrpSpPr>
            <p:cNvPr id="369" name="Google Shape;369;p21"/>
            <p:cNvGrpSpPr/>
            <p:nvPr/>
          </p:nvGrpSpPr>
          <p:grpSpPr>
            <a:xfrm>
              <a:off x="1666875" y="1257300"/>
              <a:ext cx="2095500" cy="1619100"/>
              <a:chOff x="1666875" y="1257300"/>
              <a:chExt cx="2095500" cy="1619100"/>
            </a:xfrm>
          </p:grpSpPr>
          <p:sp>
            <p:nvSpPr>
              <p:cNvPr id="370" name="Google Shape;370;p21"/>
              <p:cNvSpPr/>
              <p:nvPr/>
            </p:nvSpPr>
            <p:spPr>
              <a:xfrm>
                <a:off x="1666875" y="1257300"/>
                <a:ext cx="2095500" cy="1619100"/>
              </a:xfrm>
              <a:prstGeom prst="roundRect">
                <a:avLst>
                  <a:gd fmla="val 470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1"/>
              <p:cNvSpPr txBox="1"/>
              <p:nvPr/>
            </p:nvSpPr>
            <p:spPr>
              <a:xfrm>
                <a:off x="1809750" y="1352550"/>
                <a:ext cx="18096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1E40AF"/>
                    </a:solidFill>
                    <a:latin typeface="Open Sans ExtraBold"/>
                    <a:ea typeface="Open Sans ExtraBold"/>
                    <a:cs typeface="Open Sans ExtraBold"/>
                    <a:sym typeface="Open Sans ExtraBold"/>
                  </a:rPr>
                  <a:t>SALES SPOC</a:t>
                </a:r>
                <a:endParaRPr b="0" sz="9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  <a:p>
                <a:pPr indent="-28575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334155"/>
                  </a:buClr>
                  <a:buSzPts val="900"/>
                  <a:buFont typeface="Open Sans"/>
                  <a:buChar char="●"/>
                </a:pPr>
                <a:r>
                  <a:rPr b="0" lang="en-US" sz="9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Upload Email / Document</a:t>
                </a:r>
                <a:endParaRPr b="0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-285750" lvl="0" marL="457200" rtl="0" algn="l">
                  <a:spcBef>
                    <a:spcPts val="150"/>
                  </a:spcBef>
                  <a:spcAft>
                    <a:spcPts val="0"/>
                  </a:spcAft>
                  <a:buClr>
                    <a:srgbClr val="334155"/>
                  </a:buClr>
                  <a:buSzPts val="900"/>
                  <a:buFont typeface="Open Sans"/>
                  <a:buChar char="●"/>
                </a:pPr>
                <a:r>
                  <a:rPr b="0" lang="en-US" sz="9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AI Extraction &amp; Auto-Populate</a:t>
                </a:r>
                <a:endParaRPr b="0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-285750" lvl="0" marL="457200" rtl="0" algn="l">
                  <a:spcBef>
                    <a:spcPts val="150"/>
                  </a:spcBef>
                  <a:spcAft>
                    <a:spcPts val="0"/>
                  </a:spcAft>
                  <a:buClr>
                    <a:srgbClr val="334155"/>
                  </a:buClr>
                  <a:buSzPts val="900"/>
                  <a:buFont typeface="Open Sans"/>
                  <a:buChar char="●"/>
                </a:pPr>
                <a:r>
                  <a:rPr b="0" lang="en-US" sz="9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Review &amp; Complete Requirements</a:t>
                </a:r>
                <a:endParaRPr b="0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-285750" lvl="0" marL="457200" rtl="0" algn="l">
                  <a:spcBef>
                    <a:spcPts val="150"/>
                  </a:spcBef>
                  <a:spcAft>
                    <a:spcPts val="150"/>
                  </a:spcAft>
                  <a:buClr>
                    <a:srgbClr val="334155"/>
                  </a:buClr>
                  <a:buSzPts val="900"/>
                  <a:buFont typeface="Open Sans"/>
                  <a:buChar char="●"/>
                </a:pPr>
                <a:r>
                  <a:rPr b="0" lang="en-US" sz="9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Submit for Approval</a:t>
                </a:r>
                <a:endParaRPr b="0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372" name="Google Shape;372;p21"/>
            <p:cNvSpPr txBox="1"/>
            <p:nvPr/>
          </p:nvSpPr>
          <p:spPr>
            <a:xfrm>
              <a:off x="3876675" y="1975993"/>
              <a:ext cx="2478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arrow_forward</a:t>
              </a:r>
              <a:endParaRPr sz="16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373" name="Google Shape;373;p21"/>
            <p:cNvGrpSpPr/>
            <p:nvPr/>
          </p:nvGrpSpPr>
          <p:grpSpPr>
            <a:xfrm>
              <a:off x="4238625" y="1257300"/>
              <a:ext cx="2095500" cy="1619100"/>
              <a:chOff x="4238625" y="1257300"/>
              <a:chExt cx="2095500" cy="1619100"/>
            </a:xfrm>
          </p:grpSpPr>
          <p:sp>
            <p:nvSpPr>
              <p:cNvPr id="374" name="Google Shape;374;p21"/>
              <p:cNvSpPr/>
              <p:nvPr/>
            </p:nvSpPr>
            <p:spPr>
              <a:xfrm>
                <a:off x="4238625" y="1257300"/>
                <a:ext cx="2095500" cy="1619100"/>
              </a:xfrm>
              <a:prstGeom prst="roundRect">
                <a:avLst>
                  <a:gd fmla="val 470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1"/>
              <p:cNvSpPr txBox="1"/>
              <p:nvPr/>
            </p:nvSpPr>
            <p:spPr>
              <a:xfrm>
                <a:off x="4381500" y="1352550"/>
                <a:ext cx="18096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1E40AF"/>
                    </a:solidFill>
                    <a:latin typeface="Open Sans ExtraBold"/>
                    <a:ea typeface="Open Sans ExtraBold"/>
                    <a:cs typeface="Open Sans ExtraBold"/>
                    <a:sym typeface="Open Sans ExtraBold"/>
                  </a:rPr>
                  <a:t>SALES HEAD (APPROVER)</a:t>
                </a:r>
                <a:endParaRPr b="0" sz="9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  <a:p>
                <a:pPr indent="-28575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334155"/>
                  </a:buClr>
                  <a:buSzPts val="900"/>
                  <a:buFont typeface="Open Sans"/>
                  <a:buChar char="●"/>
                </a:pPr>
                <a:r>
                  <a:rPr b="0" lang="en-US" sz="9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Review Requirements &amp; Decision</a:t>
                </a:r>
                <a:endParaRPr b="0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16A34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✔ Approve ➔ Lock Requirements</a:t>
                </a:r>
                <a:endParaRPr b="1" sz="850">
                  <a:solidFill>
                    <a:srgbClr val="16A34A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DC262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✘ Reject ➔ Return to Sales SPOC</a:t>
                </a:r>
                <a:endParaRPr b="1" sz="850">
                  <a:solidFill>
                    <a:srgbClr val="DC2626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376" name="Google Shape;376;p21"/>
          <p:cNvGrpSpPr/>
          <p:nvPr/>
        </p:nvGrpSpPr>
        <p:grpSpPr>
          <a:xfrm>
            <a:off x="571500" y="2967038"/>
            <a:ext cx="11010900" cy="1700063"/>
            <a:chOff x="571500" y="2967038"/>
            <a:chExt cx="11010900" cy="1700063"/>
          </a:xfrm>
        </p:grpSpPr>
        <p:sp>
          <p:nvSpPr>
            <p:cNvPr id="377" name="Google Shape;377;p21"/>
            <p:cNvSpPr/>
            <p:nvPr/>
          </p:nvSpPr>
          <p:spPr>
            <a:xfrm>
              <a:off x="571500" y="3048000"/>
              <a:ext cx="952500" cy="1619100"/>
            </a:xfrm>
            <a:prstGeom prst="roundRect">
              <a:avLst>
                <a:gd fmla="val 0" name="adj"/>
              </a:avLst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8" name="Google Shape;378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500" y="2967038"/>
              <a:ext cx="11010900" cy="9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9" name="Google Shape;379;p21"/>
            <p:cNvGrpSpPr/>
            <p:nvPr/>
          </p:nvGrpSpPr>
          <p:grpSpPr>
            <a:xfrm>
              <a:off x="1666875" y="3048000"/>
              <a:ext cx="2095500" cy="1619100"/>
              <a:chOff x="1666875" y="3048000"/>
              <a:chExt cx="2095500" cy="1619100"/>
            </a:xfrm>
          </p:grpSpPr>
          <p:sp>
            <p:nvSpPr>
              <p:cNvPr id="380" name="Google Shape;380;p21"/>
              <p:cNvSpPr/>
              <p:nvPr/>
            </p:nvSpPr>
            <p:spPr>
              <a:xfrm>
                <a:off x="1666875" y="3048000"/>
                <a:ext cx="2095500" cy="1619100"/>
              </a:xfrm>
              <a:prstGeom prst="roundRect">
                <a:avLst>
                  <a:gd fmla="val 470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1"/>
              <p:cNvSpPr txBox="1"/>
              <p:nvPr/>
            </p:nvSpPr>
            <p:spPr>
              <a:xfrm>
                <a:off x="1809750" y="3143250"/>
                <a:ext cx="18096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1E40AF"/>
                    </a:solidFill>
                    <a:latin typeface="Open Sans ExtraBold"/>
                    <a:ea typeface="Open Sans ExtraBold"/>
                    <a:cs typeface="Open Sans ExtraBold"/>
                    <a:sym typeface="Open Sans ExtraBold"/>
                  </a:rPr>
                  <a:t>PROCUREMENT SPOC</a:t>
                </a:r>
                <a:endParaRPr b="0" sz="9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  <a:p>
                <a:pPr indent="-28575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334155"/>
                  </a:buClr>
                  <a:buSzPts val="900"/>
                  <a:buFont typeface="Open Sans"/>
                  <a:buChar char="●"/>
                </a:pPr>
                <a:r>
                  <a:rPr b="0" lang="en-US" sz="9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Add Vendor Details &amp; Verification</a:t>
                </a:r>
                <a:endParaRPr b="0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-285750" lvl="0" marL="457200" rtl="0" algn="l">
                  <a:spcBef>
                    <a:spcPts val="150"/>
                  </a:spcBef>
                  <a:spcAft>
                    <a:spcPts val="0"/>
                  </a:spcAft>
                  <a:buClr>
                    <a:srgbClr val="334155"/>
                  </a:buClr>
                  <a:buSzPts val="900"/>
                  <a:buFont typeface="Open Sans"/>
                  <a:buChar char="●"/>
                </a:pPr>
                <a:r>
                  <a:rPr b="0" lang="en-US" sz="9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Associate Client &amp; BU Details</a:t>
                </a:r>
                <a:endParaRPr b="0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-285750" lvl="0" marL="457200" rtl="0" algn="l">
                  <a:spcBef>
                    <a:spcPts val="150"/>
                  </a:spcBef>
                  <a:spcAft>
                    <a:spcPts val="0"/>
                  </a:spcAft>
                  <a:buClr>
                    <a:srgbClr val="334155"/>
                  </a:buClr>
                  <a:buSzPts val="900"/>
                  <a:buFont typeface="Open Sans"/>
                  <a:buChar char="●"/>
                </a:pPr>
                <a:r>
                  <a:rPr b="0" lang="en-US" sz="9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Input &amp; Validate Contract Value</a:t>
                </a:r>
                <a:endParaRPr b="0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-285750" lvl="0" marL="457200" rtl="0" algn="l">
                  <a:spcBef>
                    <a:spcPts val="150"/>
                  </a:spcBef>
                  <a:spcAft>
                    <a:spcPts val="150"/>
                  </a:spcAft>
                  <a:buClr>
                    <a:srgbClr val="334155"/>
                  </a:buClr>
                  <a:buSzPts val="900"/>
                  <a:buFont typeface="Open Sans"/>
                  <a:buChar char="●"/>
                </a:pPr>
                <a:r>
                  <a:rPr b="0" lang="en-US" sz="9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Submit for Compliance Check</a:t>
                </a:r>
                <a:endParaRPr b="0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382" name="Google Shape;382;p21"/>
            <p:cNvSpPr txBox="1"/>
            <p:nvPr/>
          </p:nvSpPr>
          <p:spPr>
            <a:xfrm>
              <a:off x="3876675" y="3757168"/>
              <a:ext cx="2478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arrow_forward</a:t>
              </a:r>
              <a:endParaRPr sz="16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383" name="Google Shape;383;p21"/>
            <p:cNvGrpSpPr/>
            <p:nvPr/>
          </p:nvGrpSpPr>
          <p:grpSpPr>
            <a:xfrm>
              <a:off x="4238625" y="3048000"/>
              <a:ext cx="2095500" cy="1619100"/>
              <a:chOff x="4238625" y="3048000"/>
              <a:chExt cx="2095500" cy="1619100"/>
            </a:xfrm>
          </p:grpSpPr>
          <p:sp>
            <p:nvSpPr>
              <p:cNvPr id="384" name="Google Shape;384;p21"/>
              <p:cNvSpPr/>
              <p:nvPr/>
            </p:nvSpPr>
            <p:spPr>
              <a:xfrm>
                <a:off x="4238625" y="3048000"/>
                <a:ext cx="2095500" cy="1619100"/>
              </a:xfrm>
              <a:prstGeom prst="roundRect">
                <a:avLst>
                  <a:gd fmla="val 470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1"/>
              <p:cNvSpPr txBox="1"/>
              <p:nvPr/>
            </p:nvSpPr>
            <p:spPr>
              <a:xfrm>
                <a:off x="4381500" y="3143250"/>
                <a:ext cx="18096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1E40AF"/>
                    </a:solidFill>
                    <a:latin typeface="Open Sans ExtraBold"/>
                    <a:ea typeface="Open Sans ExtraBold"/>
                    <a:cs typeface="Open Sans ExtraBold"/>
                    <a:sym typeface="Open Sans ExtraBold"/>
                  </a:rPr>
                  <a:t>PROCUREMENT HEAD (APPROVER)</a:t>
                </a:r>
                <a:endParaRPr b="0" sz="9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  <a:p>
                <a:pPr indent="-28575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334155"/>
                  </a:buClr>
                  <a:buSzPts val="900"/>
                  <a:buFont typeface="Open Sans"/>
                  <a:buChar char="●"/>
                </a:pPr>
                <a:r>
                  <a:rPr b="0" lang="en-US" sz="9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Review Details &amp; Compliance Sign-off</a:t>
                </a:r>
                <a:endParaRPr b="0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16A34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✔ Approve ➔ Lock System</a:t>
                </a:r>
                <a:endParaRPr b="1" sz="850">
                  <a:solidFill>
                    <a:srgbClr val="16A34A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DC262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✘ Reject ➔ Return to Proc.</a:t>
                </a:r>
                <a:endParaRPr b="1" sz="850">
                  <a:solidFill>
                    <a:srgbClr val="DC2626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386" name="Google Shape;386;p21"/>
          <p:cNvSpPr txBox="1"/>
          <p:nvPr/>
        </p:nvSpPr>
        <p:spPr>
          <a:xfrm>
            <a:off x="6448425" y="2985643"/>
            <a:ext cx="247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sz="16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387" name="Google Shape;387;p21"/>
          <p:cNvGrpSpPr/>
          <p:nvPr/>
        </p:nvGrpSpPr>
        <p:grpSpPr>
          <a:xfrm>
            <a:off x="6810375" y="1257300"/>
            <a:ext cx="4810125" cy="3410100"/>
            <a:chOff x="6810375" y="1257300"/>
            <a:chExt cx="4810125" cy="3410100"/>
          </a:xfrm>
        </p:grpSpPr>
        <p:sp>
          <p:nvSpPr>
            <p:cNvPr id="388" name="Google Shape;388;p21"/>
            <p:cNvSpPr/>
            <p:nvPr/>
          </p:nvSpPr>
          <p:spPr>
            <a:xfrm>
              <a:off x="6810375" y="1257300"/>
              <a:ext cx="952500" cy="3410100"/>
            </a:xfrm>
            <a:prstGeom prst="roundRect">
              <a:avLst>
                <a:gd fmla="val 8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1"/>
            <p:cNvSpPr txBox="1"/>
            <p:nvPr/>
          </p:nvSpPr>
          <p:spPr>
            <a:xfrm>
              <a:off x="6858000" y="1257300"/>
              <a:ext cx="857400" cy="341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3. FINANCE</a:t>
              </a:r>
              <a:br>
                <a:rPr b="0" lang="en-US" sz="11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</a:br>
              <a:r>
                <a:rPr b="0" lang="en-US" sz="11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STAGE</a:t>
              </a:r>
              <a:endParaRPr b="0" sz="11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grpSp>
          <p:nvGrpSpPr>
            <p:cNvPr id="390" name="Google Shape;390;p21"/>
            <p:cNvGrpSpPr/>
            <p:nvPr/>
          </p:nvGrpSpPr>
          <p:grpSpPr>
            <a:xfrm>
              <a:off x="7905750" y="1257300"/>
              <a:ext cx="2095500" cy="1619100"/>
              <a:chOff x="7905750" y="1257300"/>
              <a:chExt cx="2095500" cy="1619100"/>
            </a:xfrm>
          </p:grpSpPr>
          <p:sp>
            <p:nvSpPr>
              <p:cNvPr id="391" name="Google Shape;391;p21"/>
              <p:cNvSpPr/>
              <p:nvPr/>
            </p:nvSpPr>
            <p:spPr>
              <a:xfrm>
                <a:off x="7905750" y="1257300"/>
                <a:ext cx="2095500" cy="1619100"/>
              </a:xfrm>
              <a:prstGeom prst="roundRect">
                <a:avLst>
                  <a:gd fmla="val 470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1"/>
              <p:cNvSpPr txBox="1"/>
              <p:nvPr/>
            </p:nvSpPr>
            <p:spPr>
              <a:xfrm>
                <a:off x="8048625" y="1352550"/>
                <a:ext cx="18096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1E40AF"/>
                    </a:solidFill>
                    <a:latin typeface="Open Sans ExtraBold"/>
                    <a:ea typeface="Open Sans ExtraBold"/>
                    <a:cs typeface="Open Sans ExtraBold"/>
                    <a:sym typeface="Open Sans ExtraBold"/>
                  </a:rPr>
                  <a:t>FINANCE SPOC</a:t>
                </a:r>
                <a:endParaRPr b="0" sz="9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  <a:p>
                <a:pPr indent="-28575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334155"/>
                  </a:buClr>
                  <a:buSzPts val="900"/>
                  <a:buFont typeface="Open Sans"/>
                  <a:buChar char="●"/>
                </a:pPr>
                <a:r>
                  <a:rPr b="0" lang="en-US" sz="9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Add Invoice Details &amp; Validation</a:t>
                </a:r>
                <a:endParaRPr b="0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-285750" lvl="0" marL="457200" rtl="0" algn="l">
                  <a:spcBef>
                    <a:spcPts val="150"/>
                  </a:spcBef>
                  <a:spcAft>
                    <a:spcPts val="0"/>
                  </a:spcAft>
                  <a:buClr>
                    <a:srgbClr val="334155"/>
                  </a:buClr>
                  <a:buSzPts val="900"/>
                  <a:buFont typeface="Open Sans"/>
                  <a:buChar char="●"/>
                </a:pPr>
                <a:r>
                  <a:rPr b="0" lang="en-US" sz="9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Input PO Details &amp; Payment</a:t>
                </a:r>
                <a:endParaRPr b="0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-285750" lvl="0" marL="457200" rtl="0" algn="l">
                  <a:spcBef>
                    <a:spcPts val="150"/>
                  </a:spcBef>
                  <a:spcAft>
                    <a:spcPts val="0"/>
                  </a:spcAft>
                  <a:buClr>
                    <a:srgbClr val="334155"/>
                  </a:buClr>
                  <a:buSzPts val="900"/>
                  <a:buFont typeface="Open Sans"/>
                  <a:buChar char="●"/>
                </a:pPr>
                <a:r>
                  <a:rPr b="0" lang="en-US" sz="9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Verify Budget &amp; Terms</a:t>
                </a:r>
                <a:endParaRPr b="0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-285750" lvl="0" marL="457200" rtl="0" algn="l">
                  <a:spcBef>
                    <a:spcPts val="150"/>
                  </a:spcBef>
                  <a:spcAft>
                    <a:spcPts val="150"/>
                  </a:spcAft>
                  <a:buClr>
                    <a:srgbClr val="334155"/>
                  </a:buClr>
                  <a:buSzPts val="900"/>
                  <a:buFont typeface="Open Sans"/>
                  <a:buChar char="●"/>
                </a:pPr>
                <a:r>
                  <a:rPr b="0" lang="en-US" sz="900">
                    <a:solidFill>
                      <a:srgbClr val="334155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Submit for Final Sign-off</a:t>
                </a:r>
                <a:endParaRPr b="0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393" name="Google Shape;393;p21"/>
            <p:cNvSpPr txBox="1"/>
            <p:nvPr/>
          </p:nvSpPr>
          <p:spPr>
            <a:xfrm>
              <a:off x="10115550" y="1975993"/>
              <a:ext cx="2478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arrow_forward</a:t>
              </a:r>
              <a:endParaRPr sz="16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394" name="Google Shape;394;p21"/>
            <p:cNvGrpSpPr/>
            <p:nvPr/>
          </p:nvGrpSpPr>
          <p:grpSpPr>
            <a:xfrm>
              <a:off x="10477500" y="1257300"/>
              <a:ext cx="1143000" cy="1619100"/>
              <a:chOff x="10477500" y="1257300"/>
              <a:chExt cx="1143000" cy="1619100"/>
            </a:xfrm>
          </p:grpSpPr>
          <p:sp>
            <p:nvSpPr>
              <p:cNvPr id="395" name="Google Shape;395;p21"/>
              <p:cNvSpPr/>
              <p:nvPr/>
            </p:nvSpPr>
            <p:spPr>
              <a:xfrm>
                <a:off x="10477500" y="1257300"/>
                <a:ext cx="1143000" cy="16191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21"/>
              <p:cNvSpPr txBox="1"/>
              <p:nvPr/>
            </p:nvSpPr>
            <p:spPr>
              <a:xfrm>
                <a:off x="10572750" y="1352550"/>
                <a:ext cx="952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1E40AF"/>
                    </a:solidFill>
                    <a:latin typeface="Open Sans ExtraBold"/>
                    <a:ea typeface="Open Sans ExtraBold"/>
                    <a:cs typeface="Open Sans ExtraBold"/>
                    <a:sym typeface="Open Sans ExtraBold"/>
                  </a:rPr>
                  <a:t>FINANCE HEAD</a:t>
                </a:r>
                <a:endParaRPr b="0" sz="8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16A34A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✔ Approve ➔ Lock &amp; Version</a:t>
                </a:r>
                <a:endParaRPr b="1" sz="850">
                  <a:solidFill>
                    <a:srgbClr val="16A34A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DC2626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✘ Reject ➔ Return</a:t>
                </a:r>
                <a:endParaRPr b="1" sz="850">
                  <a:solidFill>
                    <a:srgbClr val="DC2626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397" name="Google Shape;397;p21"/>
          <p:cNvGrpSpPr/>
          <p:nvPr/>
        </p:nvGrpSpPr>
        <p:grpSpPr>
          <a:xfrm>
            <a:off x="7905750" y="3048000"/>
            <a:ext cx="2095500" cy="1619100"/>
            <a:chOff x="7905750" y="3048000"/>
            <a:chExt cx="2095500" cy="1619100"/>
          </a:xfrm>
        </p:grpSpPr>
        <p:sp>
          <p:nvSpPr>
            <p:cNvPr id="398" name="Google Shape;398;p21"/>
            <p:cNvSpPr/>
            <p:nvPr/>
          </p:nvSpPr>
          <p:spPr>
            <a:xfrm>
              <a:off x="7905750" y="3048000"/>
              <a:ext cx="2095500" cy="16191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1"/>
            <p:cNvSpPr txBox="1"/>
            <p:nvPr/>
          </p:nvSpPr>
          <p:spPr>
            <a:xfrm>
              <a:off x="8048625" y="3143250"/>
              <a:ext cx="18096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1E40A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FINANCE HEAD (APPROVER)</a:t>
              </a:r>
              <a:endParaRPr b="0" sz="950">
                <a:solidFill>
                  <a:srgbClr val="1E40A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900"/>
                <a:buFont typeface="Open Sans"/>
                <a:buChar char="●"/>
              </a:pPr>
              <a:r>
                <a:rPr b="0" lang="en-US" sz="9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Review Financials &amp; Budget Allocations</a:t>
              </a:r>
              <a:endParaRPr b="0" sz="9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16A34A"/>
                  </a:solidFill>
                  <a:latin typeface="Open Sans"/>
                  <a:ea typeface="Open Sans"/>
                  <a:cs typeface="Open Sans"/>
                  <a:sym typeface="Open Sans"/>
                </a:rPr>
                <a:t>✔ Approve ➔ Lock &amp; Version Control</a:t>
              </a:r>
              <a:endParaRPr b="1" sz="850">
                <a:solidFill>
                  <a:srgbClr val="16A34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DC2626"/>
                  </a:solidFill>
                  <a:latin typeface="Open Sans"/>
                  <a:ea typeface="Open Sans"/>
                  <a:cs typeface="Open Sans"/>
                  <a:sym typeface="Open Sans"/>
                </a:rPr>
                <a:t>✘ Reject ➔ Return to Finance SPOC</a:t>
              </a:r>
              <a:endParaRPr b="1" sz="850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00" name="Google Shape;400;p21"/>
          <p:cNvSpPr txBox="1"/>
          <p:nvPr/>
        </p:nvSpPr>
        <p:spPr>
          <a:xfrm>
            <a:off x="10115550" y="3757168"/>
            <a:ext cx="247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sz="16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401" name="Google Shape;401;p21"/>
          <p:cNvGrpSpPr/>
          <p:nvPr/>
        </p:nvGrpSpPr>
        <p:grpSpPr>
          <a:xfrm>
            <a:off x="10477500" y="3048000"/>
            <a:ext cx="1143000" cy="1619100"/>
            <a:chOff x="10477500" y="3048000"/>
            <a:chExt cx="1143000" cy="1619100"/>
          </a:xfrm>
        </p:grpSpPr>
        <p:sp>
          <p:nvSpPr>
            <p:cNvPr id="402" name="Google Shape;402;p21"/>
            <p:cNvSpPr/>
            <p:nvPr/>
          </p:nvSpPr>
          <p:spPr>
            <a:xfrm>
              <a:off x="10477500" y="3048000"/>
              <a:ext cx="1143000" cy="1619100"/>
            </a:xfrm>
            <a:prstGeom prst="roundRect">
              <a:avLst>
                <a:gd fmla="val 6666" name="adj"/>
              </a:avLst>
            </a:prstGeom>
            <a:solidFill>
              <a:srgbClr val="E8F1F2"/>
            </a:solidFill>
            <a:ln cap="flat" cmpd="sng" w="14300">
              <a:solidFill>
                <a:srgbClr val="004B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1"/>
            <p:cNvSpPr txBox="1"/>
            <p:nvPr/>
          </p:nvSpPr>
          <p:spPr>
            <a:xfrm>
              <a:off x="10572750" y="3143250"/>
              <a:ext cx="952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END STATE</a:t>
              </a:r>
              <a:endParaRPr b="0" sz="95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4B5C"/>
                  </a:solidFill>
                  <a:latin typeface="Open Sans"/>
                  <a:ea typeface="Open Sans"/>
                  <a:cs typeface="Open Sans"/>
                  <a:sym typeface="Open Sans"/>
                </a:rPr>
                <a:t>Requirements Fully Approved &amp; Locked</a:t>
              </a:r>
              <a:endParaRPr b="1" sz="900">
                <a:solidFill>
                  <a:srgbClr val="004B5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04" name="Google Shape;404;p21"/>
          <p:cNvGrpSpPr/>
          <p:nvPr/>
        </p:nvGrpSpPr>
        <p:grpSpPr>
          <a:xfrm>
            <a:off x="571500" y="4810125"/>
            <a:ext cx="11049000" cy="609600"/>
            <a:chOff x="571500" y="4810125"/>
            <a:chExt cx="11049000" cy="609600"/>
          </a:xfrm>
        </p:grpSpPr>
        <p:sp>
          <p:nvSpPr>
            <p:cNvPr id="405" name="Google Shape;405;p21"/>
            <p:cNvSpPr/>
            <p:nvPr/>
          </p:nvSpPr>
          <p:spPr>
            <a:xfrm>
              <a:off x="571500" y="4810125"/>
              <a:ext cx="11049000" cy="609600"/>
            </a:xfrm>
            <a:prstGeom prst="roundRect">
              <a:avLst>
                <a:gd fmla="val 125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1"/>
            <p:cNvSpPr txBox="1"/>
            <p:nvPr/>
          </p:nvSpPr>
          <p:spPr>
            <a:xfrm>
              <a:off x="762000" y="4810125"/>
              <a:ext cx="10668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8BDF8"/>
                  </a:solidFill>
                  <a:latin typeface="Open Sans"/>
                  <a:ea typeface="Open Sans"/>
                  <a:cs typeface="Open Sans"/>
                  <a:sym typeface="Open Sans"/>
                </a:rPr>
                <a:t>🔄 ONGOING MONITORING &amp; VARIATIONS (WES Operations &amp; All SPOCs)</a:t>
              </a:r>
              <a:endParaRPr b="1" sz="1000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94A3B8"/>
                  </a:solidFill>
                  <a:latin typeface="Open Sans"/>
                  <a:ea typeface="Open Sans"/>
                  <a:cs typeface="Open Sans"/>
                  <a:sym typeface="Open Sans"/>
                </a:rPr>
                <a:t>Real-Time Dashboard &amp; Status Tracking via Power BI ➔ Change Detection ➔ Trigger Variation Workflow ➔ Automated Re-Approval Routing &amp; Audit Trail Maintenance</a:t>
              </a:r>
              <a:endParaRPr b="0" sz="8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07" name="Google Shape;407;p21"/>
          <p:cNvGrpSpPr/>
          <p:nvPr/>
        </p:nvGrpSpPr>
        <p:grpSpPr>
          <a:xfrm>
            <a:off x="571500" y="5543550"/>
            <a:ext cx="11049000" cy="362100"/>
            <a:chOff x="571500" y="5543550"/>
            <a:chExt cx="11049000" cy="362100"/>
          </a:xfrm>
        </p:grpSpPr>
        <p:sp>
          <p:nvSpPr>
            <p:cNvPr id="408" name="Google Shape;408;p21"/>
            <p:cNvSpPr/>
            <p:nvPr/>
          </p:nvSpPr>
          <p:spPr>
            <a:xfrm>
              <a:off x="571500" y="5543550"/>
              <a:ext cx="11049000" cy="362100"/>
            </a:xfrm>
            <a:prstGeom prst="roundRect">
              <a:avLst>
                <a:gd fmla="val 21052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1"/>
            <p:cNvSpPr txBox="1"/>
            <p:nvPr/>
          </p:nvSpPr>
          <p:spPr>
            <a:xfrm>
              <a:off x="762000" y="5543550"/>
              <a:ext cx="10668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End State: Requirements Fully Approved, Locked, &amp; Ready for Execution</a:t>
              </a:r>
              <a:endParaRPr b="1" sz="1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2"/>
          <p:cNvSpPr txBox="1"/>
          <p:nvPr/>
        </p:nvSpPr>
        <p:spPr>
          <a:xfrm>
            <a:off x="571500" y="333375"/>
            <a:ext cx="11049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Business Requirements Workflow</a:t>
            </a:r>
            <a:endParaRPr b="0" sz="2800">
              <a:solidFill>
                <a:srgbClr val="0F172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grpSp>
        <p:nvGrpSpPr>
          <p:cNvPr id="416" name="Google Shape;416;p22"/>
          <p:cNvGrpSpPr/>
          <p:nvPr/>
        </p:nvGrpSpPr>
        <p:grpSpPr>
          <a:xfrm>
            <a:off x="571500" y="904875"/>
            <a:ext cx="11049000" cy="400200"/>
            <a:chOff x="571500" y="904875"/>
            <a:chExt cx="11049000" cy="400200"/>
          </a:xfrm>
        </p:grpSpPr>
        <p:sp>
          <p:nvSpPr>
            <p:cNvPr id="417" name="Google Shape;417;p22"/>
            <p:cNvSpPr/>
            <p:nvPr/>
          </p:nvSpPr>
          <p:spPr>
            <a:xfrm>
              <a:off x="571500" y="904875"/>
              <a:ext cx="11049000" cy="400200"/>
            </a:xfrm>
            <a:prstGeom prst="roundRect">
              <a:avLst>
                <a:gd fmla="val 1904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2"/>
            <p:cNvSpPr txBox="1"/>
            <p:nvPr/>
          </p:nvSpPr>
          <p:spPr>
            <a:xfrm>
              <a:off x="762000" y="904875"/>
              <a:ext cx="106680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3000F"/>
                  </a:solidFill>
                  <a:latin typeface="Open Sans"/>
                  <a:ea typeface="Open Sans"/>
                  <a:cs typeface="Open Sans"/>
                  <a:sym typeface="Open Sans"/>
                </a:rPr>
                <a:t>⚡ TRIGGER EVENT: </a:t>
              </a:r>
              <a:r>
                <a:rPr b="0" lang="en-US" sz="110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[Client Email/RFP Received] OR [Lease Expiry Alert]</a:t>
              </a:r>
              <a:endParaRPr b="1" sz="1100">
                <a:solidFill>
                  <a:srgbClr val="E3000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19" name="Google Shape;419;p22"/>
          <p:cNvGrpSpPr/>
          <p:nvPr/>
        </p:nvGrpSpPr>
        <p:grpSpPr>
          <a:xfrm>
            <a:off x="571500" y="1476375"/>
            <a:ext cx="3429000" cy="3524400"/>
            <a:chOff x="571500" y="1476375"/>
            <a:chExt cx="3429000" cy="3524400"/>
          </a:xfrm>
        </p:grpSpPr>
        <p:sp>
          <p:nvSpPr>
            <p:cNvPr id="420" name="Google Shape;420;p22"/>
            <p:cNvSpPr/>
            <p:nvPr/>
          </p:nvSpPr>
          <p:spPr>
            <a:xfrm>
              <a:off x="571500" y="1476375"/>
              <a:ext cx="3429000" cy="35244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571500" y="1476375"/>
              <a:ext cx="3429000" cy="438300"/>
            </a:xfrm>
            <a:prstGeom prst="roundRect">
              <a:avLst>
                <a:gd fmla="val 26086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571500" y="1866900"/>
              <a:ext cx="3429000" cy="190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3" name="Google Shape;423;p22"/>
            <p:cNvCxnSpPr/>
            <p:nvPr/>
          </p:nvCxnSpPr>
          <p:spPr>
            <a:xfrm>
              <a:off x="571500" y="1914525"/>
              <a:ext cx="3429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4" name="Google Shape;424;p22"/>
            <p:cNvSpPr txBox="1"/>
            <p:nvPr/>
          </p:nvSpPr>
          <p:spPr>
            <a:xfrm>
              <a:off x="762000" y="1476375"/>
              <a:ext cx="3048000" cy="438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1. SALES STAGE</a:t>
              </a:r>
              <a:endParaRPr b="0" sz="12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425" name="Google Shape;425;p22"/>
            <p:cNvSpPr txBox="1"/>
            <p:nvPr/>
          </p:nvSpPr>
          <p:spPr>
            <a:xfrm>
              <a:off x="762000" y="2019300"/>
              <a:ext cx="30480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E3000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SALES SPOC</a:t>
              </a:r>
              <a:endParaRPr b="0" sz="1000">
                <a:solidFill>
                  <a:srgbClr val="E3000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Upload Email / Document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AI Extraction &amp; Auto-Populate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Review &amp; Complete Requirements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Submit for Approval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E3000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SALES HEAD (APPROVER)</a:t>
              </a:r>
              <a:endParaRPr b="0" sz="1000">
                <a:solidFill>
                  <a:srgbClr val="E3000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Review Requirements &amp; Decision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16A34A"/>
                  </a:solidFill>
                  <a:latin typeface="Open Sans"/>
                  <a:ea typeface="Open Sans"/>
                  <a:cs typeface="Open Sans"/>
                  <a:sym typeface="Open Sans"/>
                </a:rPr>
                <a:t>✔ Approve ➔ Lock Requirements</a:t>
              </a:r>
              <a:endParaRPr b="1" sz="950">
                <a:solidFill>
                  <a:srgbClr val="16A34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DC2626"/>
                  </a:solidFill>
                  <a:latin typeface="Open Sans"/>
                  <a:ea typeface="Open Sans"/>
                  <a:cs typeface="Open Sans"/>
                  <a:sym typeface="Open Sans"/>
                </a:rPr>
                <a:t>✘ Reject ➔ Return to Sales SPOC</a:t>
              </a:r>
              <a:endParaRPr b="1" sz="950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26" name="Google Shape;426;p22"/>
          <p:cNvSpPr txBox="1"/>
          <p:nvPr/>
        </p:nvSpPr>
        <p:spPr>
          <a:xfrm>
            <a:off x="4095750" y="3117533"/>
            <a:ext cx="190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sz="15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427" name="Google Shape;427;p22"/>
          <p:cNvGrpSpPr/>
          <p:nvPr/>
        </p:nvGrpSpPr>
        <p:grpSpPr>
          <a:xfrm>
            <a:off x="4381500" y="1476375"/>
            <a:ext cx="3429000" cy="3524400"/>
            <a:chOff x="4381500" y="1476375"/>
            <a:chExt cx="3429000" cy="3524400"/>
          </a:xfrm>
        </p:grpSpPr>
        <p:sp>
          <p:nvSpPr>
            <p:cNvPr id="428" name="Google Shape;428;p22"/>
            <p:cNvSpPr/>
            <p:nvPr/>
          </p:nvSpPr>
          <p:spPr>
            <a:xfrm>
              <a:off x="4381500" y="1476375"/>
              <a:ext cx="3429000" cy="35244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4381500" y="1476375"/>
              <a:ext cx="3429000" cy="438300"/>
            </a:xfrm>
            <a:prstGeom prst="roundRect">
              <a:avLst>
                <a:gd fmla="val 26086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2"/>
            <p:cNvSpPr/>
            <p:nvPr/>
          </p:nvSpPr>
          <p:spPr>
            <a:xfrm>
              <a:off x="4381500" y="1866900"/>
              <a:ext cx="3429000" cy="190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31" name="Google Shape;431;p22"/>
            <p:cNvCxnSpPr/>
            <p:nvPr/>
          </p:nvCxnSpPr>
          <p:spPr>
            <a:xfrm>
              <a:off x="4381500" y="1914525"/>
              <a:ext cx="3429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2" name="Google Shape;432;p22"/>
            <p:cNvSpPr txBox="1"/>
            <p:nvPr/>
          </p:nvSpPr>
          <p:spPr>
            <a:xfrm>
              <a:off x="4572000" y="1476375"/>
              <a:ext cx="3048000" cy="438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2. PROCUREMENT STAGE</a:t>
              </a:r>
              <a:endParaRPr b="0" sz="12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433" name="Google Shape;433;p22"/>
            <p:cNvSpPr txBox="1"/>
            <p:nvPr/>
          </p:nvSpPr>
          <p:spPr>
            <a:xfrm>
              <a:off x="4572000" y="2019300"/>
              <a:ext cx="30480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E3000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PROCUREMENT SPOC</a:t>
              </a:r>
              <a:endParaRPr b="0" sz="1000">
                <a:solidFill>
                  <a:srgbClr val="E3000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Add Vendor Details &amp; Verification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Associate Client &amp; BU Details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Input &amp; Validate Contract Value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Submit for Compliance Check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E3000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PROCUREMENT HEAD (APPROVER)</a:t>
              </a:r>
              <a:endParaRPr b="0" sz="1000">
                <a:solidFill>
                  <a:srgbClr val="E3000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Review Details &amp; Compliance Sign-off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16A34A"/>
                  </a:solidFill>
                  <a:latin typeface="Open Sans"/>
                  <a:ea typeface="Open Sans"/>
                  <a:cs typeface="Open Sans"/>
                  <a:sym typeface="Open Sans"/>
                </a:rPr>
                <a:t>✔ Approve ➔ Lock System Requirements</a:t>
              </a:r>
              <a:endParaRPr b="1" sz="950">
                <a:solidFill>
                  <a:srgbClr val="16A34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DC2626"/>
                  </a:solidFill>
                  <a:latin typeface="Open Sans"/>
                  <a:ea typeface="Open Sans"/>
                  <a:cs typeface="Open Sans"/>
                  <a:sym typeface="Open Sans"/>
                </a:rPr>
                <a:t>✘ Reject ➔ Return to Procurement</a:t>
              </a:r>
              <a:endParaRPr b="1" sz="950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34" name="Google Shape;434;p22"/>
          <p:cNvSpPr txBox="1"/>
          <p:nvPr/>
        </p:nvSpPr>
        <p:spPr>
          <a:xfrm>
            <a:off x="7905750" y="3117533"/>
            <a:ext cx="190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sz="15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435" name="Google Shape;435;p22"/>
          <p:cNvGrpSpPr/>
          <p:nvPr/>
        </p:nvGrpSpPr>
        <p:grpSpPr>
          <a:xfrm>
            <a:off x="8191500" y="1476375"/>
            <a:ext cx="3429000" cy="3524400"/>
            <a:chOff x="8191500" y="1476375"/>
            <a:chExt cx="3429000" cy="3524400"/>
          </a:xfrm>
        </p:grpSpPr>
        <p:sp>
          <p:nvSpPr>
            <p:cNvPr id="436" name="Google Shape;436;p22"/>
            <p:cNvSpPr/>
            <p:nvPr/>
          </p:nvSpPr>
          <p:spPr>
            <a:xfrm>
              <a:off x="8191500" y="1476375"/>
              <a:ext cx="3429000" cy="35244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2"/>
            <p:cNvSpPr/>
            <p:nvPr/>
          </p:nvSpPr>
          <p:spPr>
            <a:xfrm>
              <a:off x="8191500" y="1476375"/>
              <a:ext cx="3429000" cy="438300"/>
            </a:xfrm>
            <a:prstGeom prst="roundRect">
              <a:avLst>
                <a:gd fmla="val 26086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2"/>
            <p:cNvSpPr/>
            <p:nvPr/>
          </p:nvSpPr>
          <p:spPr>
            <a:xfrm>
              <a:off x="8191500" y="1866900"/>
              <a:ext cx="3429000" cy="190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39" name="Google Shape;439;p22"/>
            <p:cNvCxnSpPr/>
            <p:nvPr/>
          </p:nvCxnSpPr>
          <p:spPr>
            <a:xfrm>
              <a:off x="8191500" y="1914525"/>
              <a:ext cx="3429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0" name="Google Shape;440;p22"/>
            <p:cNvSpPr txBox="1"/>
            <p:nvPr/>
          </p:nvSpPr>
          <p:spPr>
            <a:xfrm>
              <a:off x="8382000" y="1476375"/>
              <a:ext cx="3048000" cy="438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3. FINANCE STAGE</a:t>
              </a:r>
              <a:endParaRPr b="0" sz="12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441" name="Google Shape;441;p22"/>
            <p:cNvSpPr txBox="1"/>
            <p:nvPr/>
          </p:nvSpPr>
          <p:spPr>
            <a:xfrm>
              <a:off x="8382000" y="2019300"/>
              <a:ext cx="30480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E3000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FINANCE SPOC</a:t>
              </a:r>
              <a:endParaRPr b="0" sz="1000">
                <a:solidFill>
                  <a:srgbClr val="E3000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Add Invoice Details &amp; Validation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Input PO Details &amp; Payment Status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Verify Budget Parameters &amp; Terms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Submit for Final Sign-off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E3000F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FINANCE HEAD (APPROVER)</a:t>
              </a:r>
              <a:endParaRPr b="0" sz="1000">
                <a:solidFill>
                  <a:srgbClr val="E3000F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Review Financials &amp; Budget Allocations</a:t>
              </a:r>
              <a:endParaRPr b="0" sz="9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16A34A"/>
                  </a:solidFill>
                  <a:latin typeface="Open Sans"/>
                  <a:ea typeface="Open Sans"/>
                  <a:cs typeface="Open Sans"/>
                  <a:sym typeface="Open Sans"/>
                </a:rPr>
                <a:t>✔ Approve ➔ Lock &amp; Version Control</a:t>
              </a:r>
              <a:endParaRPr b="1" sz="950">
                <a:solidFill>
                  <a:srgbClr val="16A34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DC2626"/>
                  </a:solidFill>
                  <a:latin typeface="Open Sans"/>
                  <a:ea typeface="Open Sans"/>
                  <a:cs typeface="Open Sans"/>
                  <a:sym typeface="Open Sans"/>
                </a:rPr>
                <a:t>✘ Reject ➔ Return to Finance SPOC</a:t>
              </a:r>
              <a:endParaRPr b="1" sz="950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2" name="Google Shape;442;p22"/>
          <p:cNvGrpSpPr/>
          <p:nvPr/>
        </p:nvGrpSpPr>
        <p:grpSpPr>
          <a:xfrm>
            <a:off x="571500" y="5191125"/>
            <a:ext cx="11049000" cy="685800"/>
            <a:chOff x="571500" y="5191125"/>
            <a:chExt cx="11049000" cy="685800"/>
          </a:xfrm>
        </p:grpSpPr>
        <p:sp>
          <p:nvSpPr>
            <p:cNvPr id="443" name="Google Shape;443;p22"/>
            <p:cNvSpPr/>
            <p:nvPr/>
          </p:nvSpPr>
          <p:spPr>
            <a:xfrm>
              <a:off x="571500" y="5191125"/>
              <a:ext cx="11049000" cy="685800"/>
            </a:xfrm>
            <a:prstGeom prst="roundRect">
              <a:avLst>
                <a:gd fmla="val 11111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2"/>
            <p:cNvSpPr txBox="1"/>
            <p:nvPr/>
          </p:nvSpPr>
          <p:spPr>
            <a:xfrm>
              <a:off x="762000" y="5191125"/>
              <a:ext cx="10668000" cy="6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8BDF8"/>
                  </a:solidFill>
                  <a:latin typeface="Open Sans"/>
                  <a:ea typeface="Open Sans"/>
                  <a:cs typeface="Open Sans"/>
                  <a:sym typeface="Open Sans"/>
                </a:rPr>
                <a:t>🔄 ONGOING MONITORING &amp; VARIATIONS (WES Operations &amp; All SPOCs)</a:t>
              </a:r>
              <a:endParaRPr b="1" sz="1000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94A3B8"/>
                  </a:solidFill>
                  <a:latin typeface="Open Sans"/>
                  <a:ea typeface="Open Sans"/>
                  <a:cs typeface="Open Sans"/>
                  <a:sym typeface="Open Sans"/>
                </a:rPr>
                <a:t>Real-Time Dashboard &amp; Status Tracking via Power BI ➔ Change Detection ➔ Trigger Variation Workflow ➔ Automated Re-Approval Routing &amp; Audit Trail Maintenance</a:t>
              </a:r>
              <a:endParaRPr b="0" sz="9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5" name="Google Shape;445;p22"/>
          <p:cNvGrpSpPr/>
          <p:nvPr/>
        </p:nvGrpSpPr>
        <p:grpSpPr>
          <a:xfrm>
            <a:off x="571500" y="6048375"/>
            <a:ext cx="11049000" cy="400200"/>
            <a:chOff x="571500" y="6048375"/>
            <a:chExt cx="11049000" cy="400200"/>
          </a:xfrm>
        </p:grpSpPr>
        <p:sp>
          <p:nvSpPr>
            <p:cNvPr id="446" name="Google Shape;446;p22"/>
            <p:cNvSpPr/>
            <p:nvPr/>
          </p:nvSpPr>
          <p:spPr>
            <a:xfrm>
              <a:off x="571500" y="6048375"/>
              <a:ext cx="11049000" cy="400200"/>
            </a:xfrm>
            <a:prstGeom prst="roundRect">
              <a:avLst>
                <a:gd fmla="val 19047" name="adj"/>
              </a:avLst>
            </a:prstGeom>
            <a:solidFill>
              <a:srgbClr val="E3000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2"/>
            <p:cNvSpPr txBox="1"/>
            <p:nvPr/>
          </p:nvSpPr>
          <p:spPr>
            <a:xfrm>
              <a:off x="762000" y="6048375"/>
              <a:ext cx="106680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End State: Requirements Fully Approved, Locked, &amp; Ready for Execution</a:t>
              </a:r>
              <a:endParaRPr b="1" sz="1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