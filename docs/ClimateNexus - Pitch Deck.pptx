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ll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74320"/>
            <a:ext cx="14630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5486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1A1A2E"/>
                </a:solidFill>
                <a:latin typeface="Calibri"/>
              </a:defRPr>
            </a:pPr>
            <a:r>
              <a:t>ClimateNexus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008A4A"/>
                </a:solidFill>
                <a:latin typeface="Calibri"/>
              </a:defRPr>
            </a:pPr>
            <a:r>
              <a:t>Score the risk. Prescribe the cure.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88920"/>
            <a:ext cx="4114800" cy="25400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A"/>
                </a:solidFill>
                <a:latin typeface="Calibri"/>
              </a:defRPr>
            </a:pPr>
            <a:r>
              <a:t>AI-Powered Multi-Hazard Climate Risk Scoring</a:t>
            </a:r>
            <a:br/>
            <a:r>
              <a:t>&amp; Sustainability Strategy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Craftsmen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Calibri"/>
              </a:defRPr>
            </a:pPr>
            <a:r>
              <a:t>1. Anjali Gupta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371600"/>
            <a:ext cx="4114800" cy="3200400"/>
          </a:xfrm>
          <a:prstGeom prst="roundRect">
            <a:avLst/>
          </a:prstGeom>
          <a:solidFill>
            <a:srgbClr val="F2F5FA"/>
          </a:solidFill>
          <a:ln w="25400">
            <a:solidFill>
              <a:srgbClr val="00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7373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8A4A"/>
                </a:solidFill>
                <a:latin typeface="Calibri"/>
              </a:defRPr>
            </a:pPr>
            <a:r>
              <a:t>JLL 2026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2D2D3F"/>
                </a:solidFill>
                <a:latin typeface="Calibri"/>
              </a:defRPr>
            </a:pPr>
            <a:r>
              <a:t>Problem Statements #12 &amp; #13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651760"/>
            <a:ext cx="1828800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8803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A"/>
                </a:solidFill>
                <a:latin typeface="Calibri"/>
              </a:defRPr>
            </a:pPr>
            <a:r>
              <a:t>Climate Risk Assessment</a:t>
            </a:r>
            <a:br/>
            <a:r>
              <a:t>+ Sustainability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5661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8A4A"/>
                </a:solidFill>
                <a:latin typeface="Calibri"/>
              </a:defRPr>
            </a:pPr>
            <a:r>
              <a:t>Built for JLL  ·  100% Working Prototype</a:t>
            </a:r>
          </a:p>
        </p:txBody>
      </p:sp>
      <p:pic>
        <p:nvPicPr>
          <p:cNvPr id="16" name="Picture 15" descr="jll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72200"/>
            <a:ext cx="914400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 U S I N E S S   P R O B L E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5556A"/>
                </a:solidFill>
                <a:latin typeface="Calibri"/>
              </a:defRPr>
            </a:pPr>
            <a:r>
              <a:t>Faced by CRE Brokers  ·  Asset Managers  ·  Sustainability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63500" cy="4572000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08A4A"/>
                </a:solidFill>
                <a:latin typeface="Calibri"/>
              </a:defRPr>
            </a:pPr>
            <a:r>
              <a:t>❝</a:t>
            </a:r>
          </a:p>
          <a:p>
            <a:pPr algn="l">
              <a:spcAft>
                <a:spcPts val="2000"/>
              </a:spcAft>
            </a:pPr>
            <a:r>
              <a:rPr sz="1900" b="0">
                <a:solidFill>
                  <a:srgbClr val="2D2D3F"/>
                </a:solidFill>
                <a:latin typeface="Calibri"/>
              </a:rPr>
              <a:t>Today, climate risk assessment is </a:t>
            </a:r>
            <a:r>
              <a:rPr sz="1900" b="1">
                <a:solidFill>
                  <a:srgbClr val="1A1A2E"/>
                </a:solidFill>
                <a:latin typeface="Calibri"/>
              </a:rPr>
              <a:t>fragmented across 8–12 data sources</a:t>
            </a:r>
            <a:r>
              <a:rPr sz="1900" b="0">
                <a:solidFill>
                  <a:srgbClr val="2D2D3F"/>
                </a:solidFill>
                <a:latin typeface="Calibri"/>
              </a:rPr>
              <a:t>, taking </a:t>
            </a:r>
            <a:r>
              <a:rPr sz="1900" b="1">
                <a:solidFill>
                  <a:srgbClr val="D96C00"/>
                </a:solidFill>
                <a:latin typeface="Calibri"/>
              </a:rPr>
              <a:t>3–5 days per property.</a:t>
            </a:r>
          </a:p>
          <a:p>
            <a:pPr algn="l">
              <a:spcAft>
                <a:spcPts val="2400"/>
              </a:spcAft>
            </a:pPr>
            <a:r>
              <a:rPr sz="1900" b="0">
                <a:solidFill>
                  <a:srgbClr val="2D2D3F"/>
                </a:solidFill>
                <a:latin typeface="Calibri"/>
              </a:rPr>
              <a:t>Sustainability strategies are built </a:t>
            </a:r>
            <a:r>
              <a:rPr sz="1900" b="1">
                <a:solidFill>
                  <a:srgbClr val="1A1A2E"/>
                </a:solidFill>
                <a:latin typeface="Calibri"/>
              </a:rPr>
              <a:t>manually by consultants over weeks</a:t>
            </a:r>
            <a:r>
              <a:rPr sz="1900" b="0">
                <a:solidFill>
                  <a:srgbClr val="2D2D3F"/>
                </a:solidFill>
                <a:latin typeface="Calibri"/>
              </a:rPr>
              <a:t>, with no connection to actual risk data — leading to </a:t>
            </a:r>
            <a:r>
              <a:rPr sz="1900" b="1">
                <a:solidFill>
                  <a:srgbClr val="D62B2B"/>
                </a:solidFill>
                <a:latin typeface="Calibri"/>
              </a:rPr>
              <a:t>generic recommendations</a:t>
            </a:r>
            <a:r>
              <a:rPr sz="1900" b="0">
                <a:solidFill>
                  <a:srgbClr val="2D2D3F"/>
                </a:solidFill>
                <a:latin typeface="Calibri"/>
              </a:rPr>
              <a:t> that miss location-specific hazards.</a:t>
            </a:r>
          </a:p>
          <a:p>
            <a:pPr algn="l">
              <a:spcAft>
                <a:spcPts val="2400"/>
              </a:spcAft>
            </a:pPr>
            <a:r>
              <a:rPr sz="1600" b="1">
                <a:solidFill>
                  <a:srgbClr val="D96C00"/>
                </a:solidFill>
                <a:latin typeface="Calibri"/>
              </a:rPr>
              <a:t>6 Risk Dimensions:   </a:t>
            </a:r>
            <a:r>
              <a:rPr sz="1600" b="1">
                <a:solidFill>
                  <a:srgbClr val="1A56DB"/>
                </a:solidFill>
                <a:latin typeface="Calibri"/>
              </a:rPr>
              <a:t>Flood  ·  Extreme Heat  ·  Wildfire  ·  Seismic  ·  Regulatory  ·  Energy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2D2D3F"/>
                </a:solidFill>
                <a:latin typeface="Calibri"/>
              </a:rPr>
              <a:t>These gaps </a:t>
            </a:r>
            <a:r>
              <a:rPr sz="1900" b="1">
                <a:solidFill>
                  <a:srgbClr val="D62B2B"/>
                </a:solidFill>
                <a:latin typeface="Calibri"/>
              </a:rPr>
              <a:t>COST JLL DEALS </a:t>
            </a:r>
            <a:r>
              <a:rPr sz="1900" b="0">
                <a:solidFill>
                  <a:srgbClr val="2D2D3F"/>
                </a:solidFill>
                <a:latin typeface="Calibri"/>
              </a:rPr>
              <a:t>and leave clients exposed to </a:t>
            </a:r>
            <a:r>
              <a:rPr sz="1900" b="1">
                <a:solidFill>
                  <a:srgbClr val="1A1A2E"/>
                </a:solidFill>
                <a:latin typeface="Calibri"/>
              </a:rPr>
              <a:t>unquantified climate risk.</a:t>
            </a:r>
          </a:p>
          <a:p>
            <a:pPr algn="l">
              <a:spcAft>
                <a:spcPts val="0"/>
              </a:spcAft>
              <a:defRPr sz="4000" b="0">
                <a:solidFill>
                  <a:srgbClr val="008A4A"/>
                </a:solidFill>
                <a:latin typeface="Calibri"/>
              </a:defRPr>
            </a:pPr>
            <a:r>
              <a:t>❞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 H E   C H A L L E N G E 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3566160" cy="24688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566160" cy="635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0800" cy="2468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Fragmented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8–12 scattered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Flood, heat, wildfire, seismic data scattered across FEMA, NOAA, USGS, USFS, EPA — no unified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95928" y="1005840"/>
            <a:ext cx="3566160" cy="24688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95928" y="1005840"/>
            <a:ext cx="3566160" cy="63500"/>
          </a:xfrm>
          <a:prstGeom prst="rect">
            <a:avLst/>
          </a:prstGeom>
          <a:solidFill>
            <a:srgbClr val="D9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95928" y="1005840"/>
            <a:ext cx="50800" cy="2468880"/>
          </a:xfrm>
          <a:prstGeom prst="rect">
            <a:avLst/>
          </a:prstGeom>
          <a:solidFill>
            <a:srgbClr val="D9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8" y="11887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Slow Turnaround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1508760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D96C00"/>
                </a:solidFill>
                <a:latin typeface="Calibri"/>
              </a:defRPr>
            </a:pPr>
            <a:r>
              <a:t>3–5 days per 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8288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Manual data gathering extends risk assessment cycle, reducing competitive advantage in pitches.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71816" y="1005840"/>
            <a:ext cx="3566160" cy="24688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71816" y="1005840"/>
            <a:ext cx="356616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71816" y="1005840"/>
            <a:ext cx="50800" cy="2468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54696" y="11887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No Risk–Strategy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1508760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Disconnected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18288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Risk scores and sustainability strategies live in separate silos — recommendations ignore actual hazards.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584448"/>
            <a:ext cx="3566160" cy="24688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584448"/>
            <a:ext cx="3566160" cy="6350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584448"/>
            <a:ext cx="50800" cy="246888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67328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Generic Strategies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87368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88600"/>
                </a:solidFill>
                <a:latin typeface="Calibri"/>
              </a:defRPr>
            </a:pPr>
            <a:r>
              <a:t>One-size-fits-all plans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0740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Consultant reports use template-based recommendations, missing location-specific regulations &amp; incentives.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95928" y="3584448"/>
            <a:ext cx="3566160" cy="24688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95928" y="3584448"/>
            <a:ext cx="3566160" cy="63500"/>
          </a:xfrm>
          <a:prstGeom prst="rect">
            <a:avLst/>
          </a:prstGeom>
          <a:solidFill>
            <a:srgbClr val="D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95928" y="3584448"/>
            <a:ext cx="50800" cy="2468880"/>
          </a:xfrm>
          <a:prstGeom prst="rect">
            <a:avLst/>
          </a:prstGeom>
          <a:solidFill>
            <a:srgbClr val="D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8808" y="3767328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Missing Explainability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8" y="4087368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D62B2B"/>
                </a:solidFill>
                <a:latin typeface="Calibri"/>
              </a:defRPr>
            </a:pPr>
            <a:r>
              <a:t>Black-box scores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8808" y="440740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Clients can't understand WHY a property is high-risk or WHICH hazard drives the composite score.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71816" y="3584448"/>
            <a:ext cx="3566160" cy="24688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71816" y="3584448"/>
            <a:ext cx="3566160" cy="63500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71816" y="3584448"/>
            <a:ext cx="50800" cy="2468880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54696" y="3767328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No Financial Calibration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54696" y="4087368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8A4A"/>
                </a:solidFill>
                <a:latin typeface="Calibri"/>
              </a:defRPr>
            </a:pPr>
            <a:r>
              <a:t>Risk ≠ dollars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4696" y="440740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Scores aren't mapped to Expected Annual Loss (EAL) in USD — no basis for ROI-driven investment decisions.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 U R   V I S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2200" b="0">
                <a:solidFill>
                  <a:srgbClr val="2D2D3F"/>
                </a:solidFill>
                <a:latin typeface="Calibri"/>
              </a:rPr>
              <a:t>&gt;   We envision a world where climate risk assessment takes </a:t>
            </a:r>
            <a:r>
              <a:rPr sz="2200" b="1">
                <a:solidFill>
                  <a:srgbClr val="1A1A2E"/>
                </a:solidFill>
                <a:latin typeface="Calibri"/>
              </a:rPr>
              <a:t>seconds, not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8A4A"/>
                </a:solidFill>
                <a:latin typeface="Calibri"/>
              </a:rPr>
              <a:t>&gt;   </a:t>
            </a:r>
            <a:r>
              <a:rPr sz="2200" b="1">
                <a:solidFill>
                  <a:srgbClr val="1A1A2E"/>
                </a:solidFill>
                <a:latin typeface="Calibri"/>
              </a:rPr>
              <a:t>No more fragmented data, </a:t>
            </a:r>
            <a:r>
              <a:rPr sz="2200" b="0">
                <a:solidFill>
                  <a:srgbClr val="2D2D3F"/>
                </a:solidFill>
                <a:latin typeface="Calibri"/>
              </a:rPr>
              <a:t>generic strategies, or disconnected workflows that </a:t>
            </a:r>
            <a:r>
              <a:rPr sz="2200" b="1">
                <a:solidFill>
                  <a:srgbClr val="D62B2B"/>
                </a:solidFill>
                <a:latin typeface="Calibri"/>
              </a:rPr>
              <a:t>cost you deals.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8A4A"/>
                </a:solidFill>
                <a:latin typeface="Calibri"/>
              </a:rPr>
              <a:t>&gt;   </a:t>
            </a:r>
            <a:r>
              <a:rPr sz="2200" b="1">
                <a:solidFill>
                  <a:srgbClr val="1A1A2E"/>
                </a:solidFill>
                <a:latin typeface="Calibri"/>
              </a:rPr>
              <a:t>Transform climate risk management </a:t>
            </a:r>
            <a:r>
              <a:rPr sz="2200" b="0">
                <a:solidFill>
                  <a:srgbClr val="2D2D3F"/>
                </a:solidFill>
                <a:latin typeface="Calibri"/>
              </a:rPr>
              <a:t>from a compliance checkbox into a </a:t>
            </a:r>
            <a:r>
              <a:rPr sz="2200" b="1">
                <a:solidFill>
                  <a:srgbClr val="008A4A"/>
                </a:solidFill>
                <a:latin typeface="Calibri"/>
              </a:rPr>
              <a:t>strategic advantage.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212080"/>
            <a:ext cx="12191695" cy="1005840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" S C O R E   T H E   R I S K .   P R E S C R I B E   T H E   C U R E . 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 W O - S T A G E   A I   P L A T F O R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8A4A"/>
                </a:solidFill>
                <a:latin typeface="Calibri"/>
              </a:defRPr>
            </a:pPr>
            <a:r>
              <a:t>End-to-end: Risk Scoring → Strategy Generation  ·  Designed for JLL’s CRE Advisory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8A4A"/>
                </a:solidFill>
                <a:latin typeface="Calibri"/>
              </a:defRPr>
            </a:pPr>
            <a:r>
              <a:t>Stage 1: Multi-Hazard Risk Scoring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Geocodes any US address → parallel queries to 8 public APIs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FEMA (flood) · NOAA (heat) · USFS (wildfire) · USGS (seismic)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USGS (elevation) · OSM (building) · EPA (energy) · Transition regs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XGBoost ensemble → composite score (0–100) across 6 hazards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SHAP explainability: per-hazard impact decomposition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Expected Annual Loss (EAL) in USD for financial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Stage 2: RAG-Powered Strategy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LangGraph 5-node pipeline: analyze → retrieve → recommend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ChromaDB vector store with 14 curated sustainability documents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Matches IRA tax credits, state rebates, FEMA grants (10 programs)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ROI calculator: cost, annual savings, payback for 9 retrofits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Gemini 2.5 Flash synthesizes ranked action plan with narrative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•  Chat refinement: broker asks follow-ups, agent updates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Interactive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A"/>
                </a:solidFill>
                <a:latin typeface="Calibri"/>
              </a:defRPr>
            </a:pPr>
            <a:r>
              <a:t>Upload CSV or enter addresses.</a:t>
            </a:r>
            <a:br/>
            <a:r>
              <a:t>Score portfolios in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029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Export &amp;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A"/>
                </a:solidFill>
                <a:latin typeface="Calibri"/>
              </a:defRPr>
            </a:pPr>
            <a:r>
              <a:t>Branded HTML/PDF strategy reports.</a:t>
            </a:r>
            <a:br/>
            <a:r>
              <a:t>One-click download.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29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RAG 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A"/>
                </a:solidFill>
                <a:latin typeface="Calibri"/>
              </a:defRPr>
            </a:pPr>
            <a:r>
              <a:t>14 curated docs: LEED, ENERGY STAR,</a:t>
            </a:r>
            <a:br/>
            <a:r>
              <a:t>IRA, LL97, BERDO, Title 24.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Human in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A"/>
                </a:solidFill>
                <a:latin typeface="Calibri"/>
              </a:defRPr>
            </a:pPr>
            <a:r>
              <a:t>Chat-based refinement.</a:t>
            </a:r>
            <a:br/>
            <a:r>
              <a:t>Brokers iterate on recommendations.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 A T A   S O U R C E S   &amp;   T E C H   S T A C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8A4A"/>
                </a:solidFill>
                <a:latin typeface="Calibri"/>
              </a:defRPr>
            </a:pPr>
            <a:r>
              <a:t>8 Real-Time Public APIs  ·  Zero Licensing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FEMA NFHL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Flood zone, SFHA status, base flood elevation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371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0128" y="1371600"/>
            <a:ext cx="2743200" cy="50800"/>
          </a:xfrm>
          <a:prstGeom prst="rect">
            <a:avLst/>
          </a:prstGeom>
          <a:solidFill>
            <a:srgbClr val="D9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481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NOAA RCC-ACIS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810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30-year climate normals, extreme heat days, CDD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14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2743200" cy="50800"/>
          </a:xfrm>
          <a:prstGeom prst="rect">
            <a:avLst/>
          </a:prstGeom>
          <a:solidFill>
            <a:srgbClr val="D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24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USFS Wildfire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53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Annual burn probability, WUI proximity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2514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0128" y="2514600"/>
            <a:ext cx="2743200" cy="50800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624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USGS Elevation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953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Terrain elevation, coastal low-lying flag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743200" cy="5080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67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USGS Seismic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96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SDS, SD1, PGA, seismic design 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657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0128" y="3657600"/>
            <a:ext cx="2743200" cy="5080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3767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OpenStreetMap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4096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Building type, floors, land use classification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00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2743200" cy="50800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10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EPA ENERGY STAR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239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Median EUI benchmarks by building type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0128" y="4800600"/>
            <a:ext cx="2743200" cy="10515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D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10128" y="480060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288" y="49103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Transition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7288" y="52395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A"/>
                </a:solidFill>
                <a:latin typeface="Calibri"/>
              </a:defRPr>
            </a:pPr>
            <a:r>
              <a:t>LL97, BERDO, Title 24, and more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960120"/>
            <a:ext cx="12700" cy="50292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960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371600"/>
            <a:ext cx="5577840" cy="384048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4447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API Framework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1444752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FastAPI + Uvicorn (async)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1828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82880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httpx async, 8 REST APIs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2139696"/>
            <a:ext cx="5577840" cy="384048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22128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ML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212848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XGBoost weighted ensemble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59689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596896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SHAP feature attribution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2907792"/>
            <a:ext cx="5577840" cy="384048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98094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980944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SQLite cache (24h TTL)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3649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364992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ChromaDB + Gemini embeddings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3675888"/>
            <a:ext cx="5577840" cy="384048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749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7490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Google Gemini 2.5 Flash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4133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Agent Framework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133088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LangGraph state machine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4443984"/>
            <a:ext cx="5577840" cy="384048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45171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RAG Corpus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517136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14 docs, 800-token chunks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90118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Report Gen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901184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Jinja2 → HTML → PDF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5212080"/>
            <a:ext cx="5577840" cy="384048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52852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5285232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Streamlit, Folium, Plotly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56692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3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566928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pytest-asyncio (25 tests)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 A L U E   T O   J L 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D62B2B"/>
                </a:solidFill>
                <a:latin typeface="Calibri"/>
              </a:defRPr>
            </a:pPr>
            <a:r>
              <a:t>95%  Faster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A"/>
                </a:solidFill>
                <a:latin typeface="Calibri"/>
              </a:defRPr>
            </a:pPr>
            <a:r>
              <a:t>From 3–5 days per property to seconds — at portfolio scale. Score 200 properties simultaneously.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D62B2B"/>
                </a:solidFill>
                <a:latin typeface="Calibri"/>
              </a:defRPr>
            </a:pPr>
            <a:r>
              <a:t>98%  Manual Burden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A"/>
                </a:solidFill>
                <a:latin typeface="Calibri"/>
              </a:defRPr>
            </a:pPr>
            <a:r>
              <a:t>Eliminate spreadsheet work. Automated data ingestion, scoring, and strategy generation end-to-end.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8A4A"/>
                </a:solidFill>
                <a:latin typeface="Calibri"/>
              </a:defRPr>
            </a:pPr>
            <a:r>
              <a:t>$0  Data Licensing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A"/>
                </a:solidFill>
                <a:latin typeface="Calibri"/>
              </a:defRPr>
            </a:pPr>
            <a:r>
              <a:t>100% public APIs — FEMA, NOAA, USGS, USFS, EPA, OSM. Zero external data fees or vendor lock-in.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Investment to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8A4A"/>
                </a:solidFill>
                <a:latin typeface="Calibri"/>
              </a:defRPr>
            </a:pPr>
            <a:r>
              <a:t>Duration: 2–3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Calibri"/>
              </a:defRPr>
            </a:pPr>
            <a:r>
              <a:t>What’s Built Today: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Calibri"/>
              </a:defRPr>
            </a:pPr>
            <a:r>
              <a:t>✓  8 real-time API integrations (FEMA, NOAA, USGS, USFS, EPA, OSM)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✓  ML scoring engine with XGBoost + SHAP explainability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✓  LangGraph strategy agent with 5-node pipeline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✓  RAG pipeline with 14 curated sustainability documents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✓  Streamlit 4-page interactive frontend with Folium maps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✓  25 automated unit tests (pytest + pytest-asyncio)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D2D3F"/>
                </a:solidFill>
                <a:latin typeface="Calibri"/>
              </a:defRPr>
            </a:pPr>
            <a:r>
              <a:t>✓  HTML/PDF branded strategy report generation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55556A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008A4A"/>
                </a:solidFill>
                <a:latin typeface="Calibri"/>
              </a:defRPr>
            </a:pPr>
            <a:r>
              <a:t>Ready to scale with cloud deployment (GCP / Azure)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 E A S I B I L I T Y   &amp;   S C A L A B I L I T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Seamless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A"/>
                </a:solidFill>
                <a:latin typeface="Calibri"/>
              </a:defRPr>
            </a:pPr>
            <a:r>
              <a:t>Effortless integration with JLL's existing CRE advisory and sustainability consulting workflow. No new infrastructure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51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Built to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A"/>
                </a:solidFill>
                <a:latin typeface="Calibri"/>
              </a:defRPr>
            </a:pPr>
            <a:r>
              <a:t>Scalable architecture to support growing portfolio sizes across all JLL markets. Score 200+ properties in minutes, not weeks.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6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76200" cy="822960"/>
          </a:xfrm>
          <a:prstGeom prst="rect">
            <a:avLst/>
          </a:prstGeom>
          <a:solidFill>
            <a:srgbClr val="D6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3288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963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D62B2B"/>
                </a:solidFill>
                <a:latin typeface="Calibri"/>
              </a:defRPr>
            </a:pPr>
            <a:r>
              <a:t>Climate Risk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9631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Positions JLL as the climate risk leader in Commercial Real Estate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3464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First-mover advantage in AI-driven climate advisory for CRE.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00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76200" cy="822960"/>
          </a:xfrm>
          <a:prstGeom prst="rect">
            <a:avLst/>
          </a:prstGeom>
          <a:solidFill>
            <a:srgbClr val="00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9300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5643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8A4A"/>
                </a:solidFill>
                <a:latin typeface="Calibri"/>
              </a:defRPr>
            </a:pPr>
            <a:r>
              <a:t>Production-Ready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45643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Production-ready in 2–3 months with existing open-source 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79476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All components built &amp; tested. Scale with cloud deployment.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43400"/>
            <a:ext cx="7620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5312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165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New Revenue 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41655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Game changer for Sustainability Advisory revenue at JLL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75488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5556A"/>
                </a:solidFill>
                <a:latin typeface="Calibri"/>
              </a:defRPr>
            </a:pPr>
            <a:r>
              <a:t>Premium climate advisory services powered by AI at scale.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34924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ClimateNexus — A Strategic Asset for JLL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8704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EE7B7"/>
                </a:solidFill>
                <a:latin typeface="Calibri"/>
              </a:defRPr>
            </a:pPr>
            <a:r>
              <a:t>Transforming climate risk management with unprecedented speed, accuracy, and actionability.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DD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◎ JLL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