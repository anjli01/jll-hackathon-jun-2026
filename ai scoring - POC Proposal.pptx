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Open Sans SemiBold"/>
      <p:regular r:id="rId10"/>
      <p:bold r:id="rId11"/>
      <p:italic r:id="rId12"/>
      <p:boldItalic r:id="rId13"/>
    </p:embeddedFont>
    <p:embeddedFont>
      <p:font typeface="Open Sans ExtraBold"/>
      <p:bold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SemiBold-bold.fntdata"/><Relationship Id="rId10" Type="http://schemas.openxmlformats.org/officeDocument/2006/relationships/font" Target="fonts/OpenSansSemiBold-regular.fntdata"/><Relationship Id="rId13" Type="http://schemas.openxmlformats.org/officeDocument/2006/relationships/font" Target="fonts/OpenSansSemiBold-boldItalic.fntdata"/><Relationship Id="rId12" Type="http://schemas.openxmlformats.org/officeDocument/2006/relationships/font" Target="fonts/OpenSans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ExtraBold-boldItalic.fntdata"/><Relationship Id="rId14" Type="http://schemas.openxmlformats.org/officeDocument/2006/relationships/font" Target="fonts/OpenSansExtraBold-bold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2bff695ad_0_3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2bff695ad_0_3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2bff695ad_0_39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2bff695ad_0_3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bff695ad_58_0)">
  <p:cSld name="Generated (g3f2bff695ad_58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762000" y="571500"/>
            <a:ext cx="4800600" cy="1445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Business Requirements Tracker &amp; Workflow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762000" y="2160091"/>
            <a:ext cx="4800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DIGITALIZATION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762000" y="2950666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POC Proposal - Use Case #1</a:t>
            </a:r>
            <a:endParaRPr/>
          </a:p>
        </p:txBody>
      </p:sp>
      <p:pic>
        <p:nvPicPr>
          <p:cNvPr descr="image.png" id="89" name="Google Shape;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762000" y="4533900"/>
            <a:ext cx="457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Presented By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762000" y="4781550"/>
            <a:ext cx="457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Project Management Team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762000" y="5743575"/>
            <a:ext cx="13239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((O))</a:t>
            </a:r>
            <a:r>
              <a:rPr b="1" i="0" lang="en-US" sz="270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 JLL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28850" y="5934075"/>
            <a:ext cx="18954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SEE A BRIGHTER WAY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2672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11064"/>
            <a:ext cx="7924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428625" y="571500"/>
            <a:ext cx="3580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Overview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428625" y="1428750"/>
            <a:ext cx="358044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Business Problem: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28625" y="1752600"/>
            <a:ext cx="34099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Manual tracking of business requirements leads to severe delays, cross-departmental miscommunication, and a complete lack of real-time visibility into project statuses, resulting in scattered data and operational inefficiency.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428625" y="2943225"/>
            <a:ext cx="358044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Project Objective: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428625" y="5486400"/>
            <a:ext cx="358044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2222"/>
                </a:solidFill>
                <a:latin typeface="Open Sans"/>
                <a:ea typeface="Open Sans"/>
                <a:cs typeface="Open Sans"/>
                <a:sym typeface="Open Sans"/>
              </a:rPr>
              <a:t>Target Users: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52450" y="3267075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00075" y="3267075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Digitize and automate the requirement tracking workflow to establish a single source of truth.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52450" y="3762375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00075" y="3762375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Enhance cross-functional collaboration and real-time reporting.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52450" y="4257675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00075" y="4257675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Automate workflows based on business operations with systematic tracking.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52450" y="4752975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00075" y="4752975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Significantly reduce overall cycle times across departments.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52450" y="5810250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00075" y="5810250"/>
            <a:ext cx="323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Sales SPOCs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52450" y="6105525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00075" y="6105525"/>
            <a:ext cx="323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Procurement SPOCs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52450" y="6400800"/>
            <a:ext cx="47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00075" y="6400800"/>
            <a:ext cx="323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Finance SPOCs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52450" y="6696075"/>
            <a:ext cx="47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00075" y="6696075"/>
            <a:ext cx="3238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Executive Sponsors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743450" y="571500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743450" y="2193875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743450" y="3816250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743450" y="5167163"/>
            <a:ext cx="47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457825" y="571500"/>
            <a:ext cx="39404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 Scope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457825" y="2193875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Out of Scope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457825" y="3816250"/>
            <a:ext cx="403050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Assumptions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457825" y="5167163"/>
            <a:ext cx="4600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Risks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591175" y="873918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648325" y="876300"/>
            <a:ext cx="35623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Automated routing of requirement documents.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591175" y="114538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648325" y="1147762"/>
            <a:ext cx="35623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Real-time status tracking dashboards for stakeholders.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591175" y="1416843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648325" y="1419225"/>
            <a:ext cx="35623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Standardized digital intake forms.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591175" y="1688306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648325" y="1690687"/>
            <a:ext cx="35623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Basic email notifications and alerts based on phases.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591175" y="249629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648325" y="2498675"/>
            <a:ext cx="3162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Legacy system historical data migration.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5591175" y="2767756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5648325" y="2770137"/>
            <a:ext cx="3162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Complex integrations with existing ERP systems.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5591175" y="3039219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5648325" y="3041600"/>
            <a:ext cx="3162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Custom mobile application development.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591175" y="3310681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648325" y="3313062"/>
            <a:ext cx="3162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Vendor external portal access.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5591175" y="4118669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5648325" y="4121050"/>
            <a:ext cx="36480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All required stakeholders will provide timely approvals.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5591175" y="4390132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648325" y="4392513"/>
            <a:ext cx="36480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Existing IT infrastructure can support the new SaaS tool.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5591175" y="466159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648325" y="4663975"/>
            <a:ext cx="36480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Subject Matter Experts (SMEs) will be available for UAT.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591175" y="5469582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5648325" y="5471963"/>
            <a:ext cx="4191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Resistance from teams accustomed to legacy manual processes.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5591175" y="5741044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5648325" y="5743426"/>
            <a:ext cx="4191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Potential scope creep during the feedback phase.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5591175" y="6012507"/>
            <a:ext cx="571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648325" y="6014888"/>
            <a:ext cx="4191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Unforeseen delays in securing necessary IT security sign-offs.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16"/>
          <p:cNvGrpSpPr/>
          <p:nvPr/>
        </p:nvGrpSpPr>
        <p:grpSpPr>
          <a:xfrm>
            <a:off x="571500" y="285750"/>
            <a:ext cx="11049000" cy="866775"/>
            <a:chOff x="571500" y="285750"/>
            <a:chExt cx="11049000" cy="866775"/>
          </a:xfrm>
        </p:grpSpPr>
        <p:sp>
          <p:nvSpPr>
            <p:cNvPr id="163" name="Google Shape;163;p16"/>
            <p:cNvSpPr txBox="1"/>
            <p:nvPr/>
          </p:nvSpPr>
          <p:spPr>
            <a:xfrm>
              <a:off x="571500" y="285750"/>
              <a:ext cx="1104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High Level Process Map</a:t>
              </a:r>
              <a:endParaRPr sz="26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571500" y="809625"/>
              <a:ext cx="11049000" cy="342900"/>
            </a:xfrm>
            <a:prstGeom prst="roundRect">
              <a:avLst>
                <a:gd fmla="val 16666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 txBox="1"/>
            <p:nvPr/>
          </p:nvSpPr>
          <p:spPr>
            <a:xfrm>
              <a:off x="762000" y="809625"/>
              <a:ext cx="1066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284C7"/>
                  </a:solidFill>
                  <a:latin typeface="Open Sans"/>
                  <a:ea typeface="Open Sans"/>
                  <a:cs typeface="Open Sans"/>
                  <a:sym typeface="Open Sans"/>
                </a:rPr>
                <a:t>PROCESS PIPELINE: </a:t>
              </a:r>
              <a:r>
                <a:rPr b="0" lang="en-US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RESEARCH TEAM ➔ AI SCORING ENGINE ➔ BROKER ➔ CLIENT SERVICES</a:t>
              </a:r>
              <a:endParaRPr b="1" sz="1000">
                <a:solidFill>
                  <a:srgbClr val="0284C7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6" name="Google Shape;166;p16"/>
          <p:cNvGrpSpPr/>
          <p:nvPr/>
        </p:nvGrpSpPr>
        <p:grpSpPr>
          <a:xfrm>
            <a:off x="571500" y="1333500"/>
            <a:ext cx="2524200" cy="3619500"/>
            <a:chOff x="571500" y="1333500"/>
            <a:chExt cx="2524200" cy="3619500"/>
          </a:xfrm>
        </p:grpSpPr>
        <p:sp>
          <p:nvSpPr>
            <p:cNvPr id="167" name="Google Shape;167;p16"/>
            <p:cNvSpPr/>
            <p:nvPr/>
          </p:nvSpPr>
          <p:spPr>
            <a:xfrm>
              <a:off x="571500" y="1333500"/>
              <a:ext cx="2524200" cy="3619500"/>
            </a:xfrm>
            <a:prstGeom prst="roundRect">
              <a:avLst>
                <a:gd fmla="val 301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571500" y="1333500"/>
              <a:ext cx="2524200" cy="381000"/>
            </a:xfrm>
            <a:prstGeom prst="roundRect">
              <a:avLst>
                <a:gd fmla="val 20000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571500" y="1571625"/>
              <a:ext cx="2524200" cy="142800"/>
            </a:xfrm>
            <a:prstGeom prst="rect">
              <a:avLst/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714375" y="1333500"/>
              <a:ext cx="2238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1. RESEARCH TEAM</a:t>
              </a:r>
              <a:endParaRPr b="1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1" name="Google Shape;171;p16"/>
            <p:cNvSpPr txBox="1"/>
            <p:nvPr/>
          </p:nvSpPr>
          <p:spPr>
            <a:xfrm>
              <a:off x="714375" y="1857375"/>
              <a:ext cx="22383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CLIENT REQUIREMENT CAPTURE</a:t>
              </a:r>
              <a:endParaRPr b="0" sz="90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Client briefing &amp; needs analysis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Create requirement profile in system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Define priority parameters &amp; weights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Set budget, space &amp; timeline constraints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PROPERTY DATA &amp; VALIDATION</a:t>
              </a:r>
              <a:endParaRPr b="0" sz="90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Input 20+ attributes per property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Upload images &amp; documents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Data validation &amp; completeness check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Quality assurance review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72" name="Google Shape;172;p16"/>
          <p:cNvSpPr txBox="1"/>
          <p:nvPr/>
        </p:nvSpPr>
        <p:spPr>
          <a:xfrm>
            <a:off x="3190875" y="2973197"/>
            <a:ext cx="19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4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173" name="Google Shape;173;p16"/>
          <p:cNvGrpSpPr/>
          <p:nvPr/>
        </p:nvGrpSpPr>
        <p:grpSpPr>
          <a:xfrm>
            <a:off x="3429000" y="1333500"/>
            <a:ext cx="2524200" cy="3619500"/>
            <a:chOff x="3429000" y="1333500"/>
            <a:chExt cx="2524200" cy="3619500"/>
          </a:xfrm>
        </p:grpSpPr>
        <p:sp>
          <p:nvSpPr>
            <p:cNvPr id="174" name="Google Shape;174;p16"/>
            <p:cNvSpPr/>
            <p:nvPr/>
          </p:nvSpPr>
          <p:spPr>
            <a:xfrm>
              <a:off x="3429000" y="1333500"/>
              <a:ext cx="2524200" cy="3619500"/>
            </a:xfrm>
            <a:prstGeom prst="roundRect">
              <a:avLst>
                <a:gd fmla="val 301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3429000" y="1333500"/>
              <a:ext cx="2524200" cy="381000"/>
            </a:xfrm>
            <a:prstGeom prst="roundRect">
              <a:avLst>
                <a:gd fmla="val 20000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429000" y="1571625"/>
              <a:ext cx="2524200" cy="142800"/>
            </a:xfrm>
            <a:prstGeom prst="rect">
              <a:avLst/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 txBox="1"/>
            <p:nvPr/>
          </p:nvSpPr>
          <p:spPr>
            <a:xfrm>
              <a:off x="3571875" y="1333500"/>
              <a:ext cx="2238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2. AI SCORING ENGINE</a:t>
              </a:r>
              <a:endParaRPr b="1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3571875" y="1857375"/>
              <a:ext cx="22383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AI SCORING &amp; RANKING</a:t>
              </a:r>
              <a:endParaRPr b="0" sz="90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Azure ML analyzes candidate properties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Compares attributes vs requirements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Applies weighted scoring (20+ parameters)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Generates composite scores (0-100)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Ranks properties by total score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Duration: </a:t>
              </a:r>
              <a:r>
                <a:rPr b="0"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5 mins for 100 properties</a:t>
              </a:r>
              <a:endParaRPr b="1" sz="85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79" name="Google Shape;179;p16"/>
          <p:cNvSpPr txBox="1"/>
          <p:nvPr/>
        </p:nvSpPr>
        <p:spPr>
          <a:xfrm>
            <a:off x="6048375" y="2973197"/>
            <a:ext cx="19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4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180" name="Google Shape;180;p16"/>
          <p:cNvGrpSpPr/>
          <p:nvPr/>
        </p:nvGrpSpPr>
        <p:grpSpPr>
          <a:xfrm>
            <a:off x="6286500" y="1333500"/>
            <a:ext cx="2524200" cy="3619500"/>
            <a:chOff x="6286500" y="1333500"/>
            <a:chExt cx="2524200" cy="3619500"/>
          </a:xfrm>
        </p:grpSpPr>
        <p:sp>
          <p:nvSpPr>
            <p:cNvPr id="181" name="Google Shape;181;p16"/>
            <p:cNvSpPr/>
            <p:nvPr/>
          </p:nvSpPr>
          <p:spPr>
            <a:xfrm>
              <a:off x="6286500" y="1333500"/>
              <a:ext cx="2524200" cy="3619500"/>
            </a:xfrm>
            <a:prstGeom prst="roundRect">
              <a:avLst>
                <a:gd fmla="val 301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6286500" y="1333500"/>
              <a:ext cx="2524200" cy="381000"/>
            </a:xfrm>
            <a:prstGeom prst="roundRect">
              <a:avLst>
                <a:gd fmla="val 20000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6286500" y="1571625"/>
              <a:ext cx="2524200" cy="142800"/>
            </a:xfrm>
            <a:prstGeom prst="rect">
              <a:avLst/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 txBox="1"/>
            <p:nvPr/>
          </p:nvSpPr>
          <p:spPr>
            <a:xfrm>
              <a:off x="6429375" y="1333500"/>
              <a:ext cx="2238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3. BROKER STAGE</a:t>
              </a:r>
              <a:endParaRPr b="1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6429375" y="1857375"/>
              <a:ext cx="22383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BROKER REVIEW &amp; VALIDATION</a:t>
              </a:r>
              <a:endParaRPr b="0" sz="90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parameter score breakdowns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Adjust weights (dynamic re-scoring)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Override scores via local knowledge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Run what-if scenarios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SENIOR QC &amp; REPORT GEN</a:t>
              </a:r>
              <a:endParaRPr b="0" sz="90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short list &amp; final approval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Market intelligence overlay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284C7"/>
                  </a:solidFill>
                  <a:latin typeface="Open Sans"/>
                  <a:ea typeface="Open Sans"/>
                  <a:cs typeface="Open Sans"/>
                  <a:sym typeface="Open Sans"/>
                </a:rPr>
                <a:t>Instant Report Creation: </a:t>
              </a:r>
              <a:r>
                <a:rPr b="0"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Auto-generates PDF/PPT reports with scores &amp; charts</a:t>
              </a:r>
              <a:endParaRPr b="1" sz="850">
                <a:solidFill>
                  <a:srgbClr val="0284C7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6" name="Google Shape;186;p16"/>
          <p:cNvSpPr txBox="1"/>
          <p:nvPr/>
        </p:nvSpPr>
        <p:spPr>
          <a:xfrm>
            <a:off x="8905875" y="2973197"/>
            <a:ext cx="19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1400">
              <a:solidFill>
                <a:srgbClr val="94A3B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187" name="Google Shape;187;p16"/>
          <p:cNvGrpSpPr/>
          <p:nvPr/>
        </p:nvGrpSpPr>
        <p:grpSpPr>
          <a:xfrm>
            <a:off x="9144000" y="1333500"/>
            <a:ext cx="2476500" cy="3619500"/>
            <a:chOff x="9144000" y="1333500"/>
            <a:chExt cx="2476500" cy="3619500"/>
          </a:xfrm>
        </p:grpSpPr>
        <p:sp>
          <p:nvSpPr>
            <p:cNvPr id="188" name="Google Shape;188;p16"/>
            <p:cNvSpPr/>
            <p:nvPr/>
          </p:nvSpPr>
          <p:spPr>
            <a:xfrm>
              <a:off x="9144000" y="1333500"/>
              <a:ext cx="2476500" cy="3619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9144000" y="1333500"/>
              <a:ext cx="2476500" cy="381000"/>
            </a:xfrm>
            <a:prstGeom prst="roundRect">
              <a:avLst>
                <a:gd fmla="val 20000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9144000" y="1571625"/>
              <a:ext cx="2476500" cy="142800"/>
            </a:xfrm>
            <a:prstGeom prst="rect">
              <a:avLst/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6"/>
            <p:cNvSpPr txBox="1"/>
            <p:nvPr/>
          </p:nvSpPr>
          <p:spPr>
            <a:xfrm>
              <a:off x="9286875" y="133350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4. CLIENT SERVICES</a:t>
              </a:r>
              <a:endParaRPr b="1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2" name="Google Shape;192;p16"/>
            <p:cNvSpPr txBox="1"/>
            <p:nvPr/>
          </p:nvSpPr>
          <p:spPr>
            <a:xfrm>
              <a:off x="9286875" y="1857375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CLIENT PRESENTATION</a:t>
              </a:r>
              <a:endParaRPr b="0" sz="90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Share interactive Power BI dashboard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• Present methodology &amp; collect feedback</a:t>
              </a:r>
              <a:endParaRPr sz="8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F766E"/>
                  </a:solidFill>
                  <a:highlight>
                    <a:srgbClr val="F0FDFA"/>
                  </a:highlight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END STATE</a:t>
              </a:r>
              <a:endParaRPr b="0" sz="950">
                <a:solidFill>
                  <a:srgbClr val="0F766E"/>
                </a:solidFill>
                <a:highlight>
                  <a:srgbClr val="F0FDFA"/>
                </a:highlight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115E59"/>
                  </a:solidFill>
                  <a:highlight>
                    <a:srgbClr val="F0FDFA"/>
                  </a:highlight>
                  <a:latin typeface="Open Sans"/>
                  <a:ea typeface="Open Sans"/>
                  <a:cs typeface="Open Sans"/>
                  <a:sym typeface="Open Sans"/>
                </a:rPr>
                <a:t>Scored Recommendation Short-List Finalized &amp; Ready for Tour</a:t>
              </a:r>
              <a:endParaRPr b="1" sz="800">
                <a:solidFill>
                  <a:srgbClr val="115E59"/>
                </a:solidFill>
                <a:highlight>
                  <a:srgbClr val="F0FDFA"/>
                </a:highlight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93" name="Google Shape;193;p16"/>
          <p:cNvGrpSpPr/>
          <p:nvPr/>
        </p:nvGrpSpPr>
        <p:grpSpPr>
          <a:xfrm>
            <a:off x="571500" y="5095875"/>
            <a:ext cx="11049000" cy="571500"/>
            <a:chOff x="571500" y="5095875"/>
            <a:chExt cx="11049000" cy="571500"/>
          </a:xfrm>
        </p:grpSpPr>
        <p:sp>
          <p:nvSpPr>
            <p:cNvPr id="194" name="Google Shape;194;p16"/>
            <p:cNvSpPr/>
            <p:nvPr/>
          </p:nvSpPr>
          <p:spPr>
            <a:xfrm>
              <a:off x="571500" y="5095875"/>
              <a:ext cx="11049000" cy="571500"/>
            </a:xfrm>
            <a:prstGeom prst="roundRect">
              <a:avLst>
                <a:gd fmla="val 13333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6"/>
            <p:cNvSpPr txBox="1"/>
            <p:nvPr/>
          </p:nvSpPr>
          <p:spPr>
            <a:xfrm>
              <a:off x="762000" y="5095875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8BDF8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🔄 CONTINUOUS IMPROVEMENT (Feedback Loop &amp; Model Refinement)</a:t>
              </a:r>
              <a:endParaRPr b="0" sz="950">
                <a:solidFill>
                  <a:srgbClr val="38BDF8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Capture client-selected properties &amp; actual deal outcomes ➔ Update AI model with results ➔ Refine parameters &amp; weights to enhance model accuracy over time</a:t>
              </a:r>
              <a:endParaRPr sz="8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96" name="Google Shape;196;p16"/>
          <p:cNvGrpSpPr/>
          <p:nvPr/>
        </p:nvGrpSpPr>
        <p:grpSpPr>
          <a:xfrm>
            <a:off x="571500" y="5810250"/>
            <a:ext cx="11049000" cy="381000"/>
            <a:chOff x="571500" y="5810250"/>
            <a:chExt cx="11049000" cy="381000"/>
          </a:xfrm>
        </p:grpSpPr>
        <p:sp>
          <p:nvSpPr>
            <p:cNvPr id="197" name="Google Shape;197;p16"/>
            <p:cNvSpPr/>
            <p:nvPr/>
          </p:nvSpPr>
          <p:spPr>
            <a:xfrm>
              <a:off x="571500" y="5810250"/>
              <a:ext cx="11049000" cy="381000"/>
            </a:xfrm>
            <a:prstGeom prst="roundRect">
              <a:avLst>
                <a:gd fmla="val 20000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6"/>
            <p:cNvSpPr txBox="1"/>
            <p:nvPr/>
          </p:nvSpPr>
          <p:spPr>
            <a:xfrm>
              <a:off x="762000" y="5810250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LEADERSHIP ANALYTICS MONITORING: </a:t>
              </a:r>
              <a:r>
                <a:rPr b="0" lang="en-US" sz="900">
                  <a:solidFill>
                    <a:srgbClr val="BFDBFE"/>
                  </a:solidFill>
                  <a:latin typeface="Open Sans"/>
                  <a:ea typeface="Open Sans"/>
                  <a:cs typeface="Open Sans"/>
                  <a:sym typeface="Open Sans"/>
                </a:rPr>
                <a:t>Total Scorings • Avg Time per List • Broker Adoption • Client Acceptance • Conversion Tracking • Model Accuracy</a:t>
              </a:r>
              <a:endParaRPr b="1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17"/>
          <p:cNvGrpSpPr/>
          <p:nvPr/>
        </p:nvGrpSpPr>
        <p:grpSpPr>
          <a:xfrm>
            <a:off x="571500" y="285750"/>
            <a:ext cx="11049000" cy="866775"/>
            <a:chOff x="571500" y="285750"/>
            <a:chExt cx="11049000" cy="866775"/>
          </a:xfrm>
        </p:grpSpPr>
        <p:sp>
          <p:nvSpPr>
            <p:cNvPr id="205" name="Google Shape;205;p17"/>
            <p:cNvSpPr txBox="1"/>
            <p:nvPr/>
          </p:nvSpPr>
          <p:spPr>
            <a:xfrm>
              <a:off x="571500" y="285750"/>
              <a:ext cx="1104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Project Details</a:t>
              </a:r>
              <a:endParaRPr sz="26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571500" y="809625"/>
              <a:ext cx="11049000" cy="342900"/>
            </a:xfrm>
            <a:prstGeom prst="roundRect">
              <a:avLst>
                <a:gd fmla="val 16666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762000" y="809625"/>
              <a:ext cx="1066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284C7"/>
                  </a:solidFill>
                  <a:latin typeface="Open Sans"/>
                  <a:ea typeface="Open Sans"/>
                  <a:cs typeface="Open Sans"/>
                  <a:sym typeface="Open Sans"/>
                </a:rPr>
                <a:t>PROJECT ROLES &amp; WORKFLOW PIPELINE: RESEARCH &amp; ANALYTICS ➔ TENANT REP BROKERS ➔ CLIENT SERVICES</a:t>
              </a:r>
              <a:endParaRPr b="1" sz="1000">
                <a:solidFill>
                  <a:srgbClr val="0284C7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08" name="Google Shape;208;p17"/>
          <p:cNvGrpSpPr/>
          <p:nvPr/>
        </p:nvGrpSpPr>
        <p:grpSpPr>
          <a:xfrm>
            <a:off x="571500" y="1333500"/>
            <a:ext cx="3429000" cy="3619500"/>
            <a:chOff x="571500" y="1333500"/>
            <a:chExt cx="3429000" cy="3619500"/>
          </a:xfrm>
        </p:grpSpPr>
        <p:sp>
          <p:nvSpPr>
            <p:cNvPr id="209" name="Google Shape;209;p17"/>
            <p:cNvSpPr/>
            <p:nvPr/>
          </p:nvSpPr>
          <p:spPr>
            <a:xfrm>
              <a:off x="571500" y="1333500"/>
              <a:ext cx="3429000" cy="36195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571500" y="1333500"/>
              <a:ext cx="3429000" cy="381000"/>
            </a:xfrm>
            <a:prstGeom prst="roundRect">
              <a:avLst>
                <a:gd fmla="val 20000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571500" y="1571625"/>
              <a:ext cx="3429000" cy="142800"/>
            </a:xfrm>
            <a:prstGeom prst="rect">
              <a:avLst/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 txBox="1"/>
            <p:nvPr/>
          </p:nvSpPr>
          <p:spPr>
            <a:xfrm>
              <a:off x="762000" y="1333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1. RESEARCH &amp; ANALYTICS</a:t>
              </a:r>
              <a:endParaRPr b="1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762000" y="1857375"/>
              <a:ext cx="30480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E3000F"/>
                  </a:solidFill>
                  <a:latin typeface="Open Sans"/>
                  <a:ea typeface="Open Sans"/>
                  <a:cs typeface="Open Sans"/>
                  <a:sym typeface="Open Sans"/>
                </a:rPr>
                <a:t>SPOC: Research • Approval: Research Head</a:t>
              </a:r>
              <a:endParaRPr b="1" sz="850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WHAT THEY DO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Compile property long list (50-100 properties)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Enter property details &amp; upload images/plans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Quality check data inputs for completeness</a:t>
              </a:r>
              <a:endParaRPr b="0" sz="8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INFORMATION THEY TRACK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Location, accessibility, building quality &amp; size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Rent, lease terms, and availability dates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Parking, amenities, and infrastructure specs</a:t>
              </a:r>
              <a:endParaRPr b="0" sz="8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7"/>
          <p:cNvGrpSpPr/>
          <p:nvPr/>
        </p:nvGrpSpPr>
        <p:grpSpPr>
          <a:xfrm>
            <a:off x="4381500" y="1333500"/>
            <a:ext cx="3429000" cy="3619500"/>
            <a:chOff x="4381500" y="1333500"/>
            <a:chExt cx="3429000" cy="3619500"/>
          </a:xfrm>
        </p:grpSpPr>
        <p:sp>
          <p:nvSpPr>
            <p:cNvPr id="215" name="Google Shape;215;p17"/>
            <p:cNvSpPr/>
            <p:nvPr/>
          </p:nvSpPr>
          <p:spPr>
            <a:xfrm>
              <a:off x="4381500" y="1333500"/>
              <a:ext cx="3429000" cy="36195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4381500" y="1333500"/>
              <a:ext cx="3429000" cy="381000"/>
            </a:xfrm>
            <a:prstGeom prst="roundRect">
              <a:avLst>
                <a:gd fmla="val 20000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4381500" y="1571625"/>
              <a:ext cx="3429000" cy="142800"/>
            </a:xfrm>
            <a:prstGeom prst="rect">
              <a:avLst/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7"/>
            <p:cNvSpPr txBox="1"/>
            <p:nvPr/>
          </p:nvSpPr>
          <p:spPr>
            <a:xfrm>
              <a:off x="4572000" y="1333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2. TENANT REP BROKERS</a:t>
              </a:r>
              <a:endParaRPr b="1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9" name="Google Shape;219;p17"/>
            <p:cNvSpPr txBox="1"/>
            <p:nvPr/>
          </p:nvSpPr>
          <p:spPr>
            <a:xfrm>
              <a:off x="4572000" y="1857375"/>
              <a:ext cx="30480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E3000F"/>
                  </a:solidFill>
                  <a:latin typeface="Open Sans"/>
                  <a:ea typeface="Open Sans"/>
                  <a:cs typeface="Open Sans"/>
                  <a:sym typeface="Open Sans"/>
                </a:rPr>
                <a:t>SPOC: Broker • Approval: Senior Broker</a:t>
              </a:r>
              <a:endParaRPr b="1" sz="850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WHAT THEY DO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Meet clients &amp; capture critical space needs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Review &amp; validate AI-recommended properties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Adjust priorities &amp; add local market insights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Finalize curated short list for presentation</a:t>
              </a:r>
              <a:endParaRPr b="0" sz="8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INFORMATION THEY TRACK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Client budget, space needs, and timeline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Must-have vs. nice-to-have features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Property recommendations with logical reasoning</a:t>
              </a:r>
              <a:endParaRPr b="0" sz="8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20" name="Google Shape;220;p17"/>
          <p:cNvGrpSpPr/>
          <p:nvPr/>
        </p:nvGrpSpPr>
        <p:grpSpPr>
          <a:xfrm>
            <a:off x="8191500" y="1333500"/>
            <a:ext cx="3429000" cy="3619500"/>
            <a:chOff x="8191500" y="1333500"/>
            <a:chExt cx="3429000" cy="3619500"/>
          </a:xfrm>
        </p:grpSpPr>
        <p:sp>
          <p:nvSpPr>
            <p:cNvPr id="221" name="Google Shape;221;p17"/>
            <p:cNvSpPr/>
            <p:nvPr/>
          </p:nvSpPr>
          <p:spPr>
            <a:xfrm>
              <a:off x="8191500" y="1333500"/>
              <a:ext cx="3429000" cy="36195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8191500" y="1333500"/>
              <a:ext cx="3429000" cy="381000"/>
            </a:xfrm>
            <a:prstGeom prst="roundRect">
              <a:avLst>
                <a:gd fmla="val 20000" name="adj"/>
              </a:avLst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8191500" y="1571625"/>
              <a:ext cx="3429000" cy="142800"/>
            </a:xfrm>
            <a:prstGeom prst="rect">
              <a:avLst/>
            </a:prstGeom>
            <a:solidFill>
              <a:srgbClr val="004B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7"/>
            <p:cNvSpPr txBox="1"/>
            <p:nvPr/>
          </p:nvSpPr>
          <p:spPr>
            <a:xfrm>
              <a:off x="8382000" y="1333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3. CLIENT SERVICES</a:t>
              </a:r>
              <a:endParaRPr b="1" sz="1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5" name="Google Shape;225;p17"/>
            <p:cNvSpPr txBox="1"/>
            <p:nvPr/>
          </p:nvSpPr>
          <p:spPr>
            <a:xfrm>
              <a:off x="8382000" y="1857375"/>
              <a:ext cx="30480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E3000F"/>
                  </a:solidFill>
                  <a:latin typeface="Open Sans"/>
                  <a:ea typeface="Open Sans"/>
                  <a:cs typeface="Open Sans"/>
                  <a:sym typeface="Open Sans"/>
                </a:rPr>
                <a:t>SPOC: Account Manager • Approval: CRM Head</a:t>
              </a:r>
              <a:endParaRPr b="1" sz="850">
                <a:solidFill>
                  <a:srgbClr val="E3000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WHAT THEY DO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Present tailored property options to clients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Share comparison dashboards &amp; scoring logic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Collect structured client feedback &amp; schedule tours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Track final selections &amp; actual deal outcomes</a:t>
              </a:r>
              <a:endParaRPr b="0" sz="8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04B5C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INFORMATION THEY TRACK</a:t>
              </a:r>
              <a:endParaRPr b="0" sz="950">
                <a:solidFill>
                  <a:srgbClr val="004B5C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Client feedback, tour feedback, and final choices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Tour coordination &amp; scheduling details</a:t>
              </a:r>
              <a:b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lang="en-US" sz="850">
                  <a:solidFill>
                    <a:srgbClr val="334155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Conversion rates and final transaction details</a:t>
              </a:r>
              <a:endParaRPr b="0" sz="85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26" name="Google Shape;226;p17"/>
          <p:cNvGrpSpPr/>
          <p:nvPr/>
        </p:nvGrpSpPr>
        <p:grpSpPr>
          <a:xfrm>
            <a:off x="4095750" y="3068447"/>
            <a:ext cx="4000500" cy="381000"/>
            <a:chOff x="4095750" y="3068447"/>
            <a:chExt cx="4000500" cy="381000"/>
          </a:xfrm>
        </p:grpSpPr>
        <p:sp>
          <p:nvSpPr>
            <p:cNvPr id="227" name="Google Shape;227;p17"/>
            <p:cNvSpPr txBox="1"/>
            <p:nvPr/>
          </p:nvSpPr>
          <p:spPr>
            <a:xfrm>
              <a:off x="4095750" y="3068447"/>
              <a:ext cx="19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4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7905750" y="3068447"/>
              <a:ext cx="19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arrow_forward</a:t>
              </a:r>
              <a:endParaRPr sz="14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29" name="Google Shape;229;p17"/>
          <p:cNvGrpSpPr/>
          <p:nvPr/>
        </p:nvGrpSpPr>
        <p:grpSpPr>
          <a:xfrm>
            <a:off x="571500" y="5095875"/>
            <a:ext cx="11049000" cy="1095300"/>
            <a:chOff x="571500" y="5095875"/>
            <a:chExt cx="11049000" cy="1095300"/>
          </a:xfrm>
        </p:grpSpPr>
        <p:sp>
          <p:nvSpPr>
            <p:cNvPr id="230" name="Google Shape;230;p17"/>
            <p:cNvSpPr/>
            <p:nvPr/>
          </p:nvSpPr>
          <p:spPr>
            <a:xfrm>
              <a:off x="571500" y="5095875"/>
              <a:ext cx="11049000" cy="1095300"/>
            </a:xfrm>
            <a:prstGeom prst="roundRect">
              <a:avLst>
                <a:gd fmla="val 6956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762000" y="5238750"/>
              <a:ext cx="10668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38BDF8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🤖 HOW THE AI SCORING ENGINE WORKS</a:t>
              </a:r>
              <a:endParaRPr b="0" sz="950">
                <a:solidFill>
                  <a:srgbClr val="38BDF8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1F5F9"/>
                  </a:solidFill>
                  <a:latin typeface="Open Sans"/>
                  <a:ea typeface="Open Sans"/>
                  <a:cs typeface="Open Sans"/>
                  <a:sym typeface="Open Sans"/>
                </a:rPr>
                <a:t>1. Learning Phase &amp; Retraining:</a:t>
              </a:r>
              <a:r>
                <a:rPr b="0" lang="en-US" sz="85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 AI analyzes 200+ historically scored properties to learn unique broker patterns, retrained every 3 months with fresh data.</a:t>
              </a:r>
              <a:endParaRPr b="0" sz="8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1F5F9"/>
                  </a:solidFill>
                  <a:latin typeface="Open Sans"/>
                  <a:ea typeface="Open Sans"/>
                  <a:cs typeface="Open Sans"/>
                  <a:sym typeface="Open Sans"/>
                </a:rPr>
                <a:t>2. Instant Evaluation:</a:t>
              </a:r>
              <a:r>
                <a:rPr b="0" lang="en-US" sz="85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 Compares new properties to client needs on location fit, building quality, price match, and 10+ other factors in under 5 minutes.</a:t>
              </a:r>
              <a:endParaRPr b="0" sz="8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1F5F9"/>
                  </a:solidFill>
                  <a:latin typeface="Open Sans"/>
                  <a:ea typeface="Open Sans"/>
                  <a:cs typeface="Open Sans"/>
                  <a:sym typeface="Open Sans"/>
                </a:rPr>
                <a:t>3. Human-in-the-Loop Validation:</a:t>
              </a:r>
              <a:r>
                <a:rPr b="0" lang="en-US" sz="850">
                  <a:solidFill>
                    <a:srgbClr val="94A3B8"/>
                  </a:solidFill>
                  <a:latin typeface="Open Sans"/>
                  <a:ea typeface="Open Sans"/>
                  <a:cs typeface="Open Sans"/>
                  <a:sym typeface="Open Sans"/>
                </a:rPr>
                <a:t> System suggests initial scores; brokers review, override inaccuracies based on experience, and finalize. Saves 40+ hours per project.</a:t>
              </a:r>
              <a:endParaRPr b="0" sz="8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